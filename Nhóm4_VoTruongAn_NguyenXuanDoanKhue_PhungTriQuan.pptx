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Ảnh bị loại hoặc lưu ý trong 20,000 ảnh thô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ảnh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7C86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Quá mờ (loại)</c:v>
                  </c:pt>
                  <c:pt idx="1">
                    <c:v>Trùng lặp (loại)</c:v>
                  </c:pt>
                  <c:pt idx="2">
                    <c:v>Không thấy mặt (giữ)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2315</c:v>
                </c:pt>
                <c:pt idx="1">
                  <c:v>2579</c:v>
                </c:pt>
                <c:pt idx="2">
                  <c:v>3048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1F2A37"/>
                  </a:solidFill>
                  <a:latin typeface="+mn-lt"/>
                </a:defRPr>
              </a:pPr>
              <a:endParaRPr/>
            </a:p>
          </c:txPr>
        </c:dLbls>
        <c:gapWidth val="6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.000000"/>
          <c:min val="0.000000"/>
        </c:scaling>
        <c:delete val="1"/>
        <c:axPos val="b"/>
        <c:majorGridlines>
          <c:spPr bwMode="auto">
            <a:prstGeom prst="rect">
              <a:avLst/>
            </a:prstGeom>
            <a:ln w="9525" cap="flat">
              <a:solidFill>
                <a:srgbClr val="DC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457200" y="1143000"/>
      <a:ext cx="4114800" cy="246888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Ảnh Thật so với ảnh Giả (% chênh lệch trung bình)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chênh lệch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7C86"/>
            </a:solidFill>
            <a:effectLst/>
          </c:spPr>
          <c:invertIfNegative val="0"/>
          <c:dLbls>
            <c:numFmt formatCode="0.0&quot;%&quot;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Sheet1!$A$2:$A$7</c:f>
              <c:multiLvlStrCache>
                <c:ptCount val="6"/>
                <c:lvl>
                  <c:pt idx="0">
                    <c:v>Độ nét (Laplacian)</c:v>
                  </c:pt>
                  <c:pt idx="1">
                    <c:v>LBP không đồng nhất</c:v>
                  </c:pt>
                  <c:pt idx="2">
                    <c:v>FFT năng lượng cao</c:v>
                  </c:pt>
                  <c:pt idx="3">
                    <c:v>FFT tỷ lệ cao/thấp</c:v>
                  </c:pt>
                  <c:pt idx="4">
                    <c:v>HOG giá trị max</c:v>
                  </c:pt>
                  <c:pt idx="5">
                    <c:v>Độ sáng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-33</c:v>
                </c:pt>
                <c:pt idx="1">
                  <c:v>-10</c:v>
                </c:pt>
                <c:pt idx="2">
                  <c:v>-8.5</c:v>
                </c:pt>
                <c:pt idx="3">
                  <c:v>-8.5</c:v>
                </c:pt>
                <c:pt idx="4">
                  <c:v>3.8</c:v>
                </c:pt>
                <c:pt idx="5">
                  <c:v>-1.8</c:v>
                </c:pt>
              </c:numCache>
            </c:numRef>
          </c:val>
        </c:ser>
        <c:dLbls>
          <c:numFmt formatCode="0.0&quot;%&quot;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1F2A37"/>
                  </a:solidFill>
                  <a:latin typeface="+mn-lt"/>
                </a:defRPr>
              </a:pPr>
              <a:endParaRPr/>
            </a:p>
          </c:txPr>
        </c:dLbls>
        <c:gapWidth val="5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.000000"/>
          <c:min val="-42.000000"/>
        </c:scaling>
        <c:delete val="1"/>
        <c:axPos val="b"/>
        <c:majorGridlines>
          <c:spPr bwMode="auto">
            <a:prstGeom prst="rect">
              <a:avLst/>
            </a:prstGeom>
            <a:ln w="9525" cap="flat">
              <a:solidFill>
                <a:srgbClr val="DC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457200" y="1143000"/>
      <a:ext cx="5120640" cy="342900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Chỉ số trên tập test, sắp theo F1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7C86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Sheet1!$A$2:$A$8</c:f>
              <c:multiLvlStrCache>
                <c:ptCount val="7"/>
                <c:lvl>
                  <c:pt idx="0">
                    <c:v>SVM</c:v>
                  </c:pt>
                  <c:pt idx="1">
                    <c:v>GB</c:v>
                  </c:pt>
                  <c:pt idx="2">
                    <c:v>RF</c:v>
                  </c:pt>
                  <c:pt idx="3">
                    <c:v>LogReg</c:v>
                  </c:pt>
                  <c:pt idx="4">
                    <c:v>NB</c:v>
                  </c:pt>
                  <c:pt idx="5">
                    <c:v>DT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0.816</c:v>
                </c:pt>
                <c:pt idx="1">
                  <c:v>0.801</c:v>
                </c:pt>
                <c:pt idx="2">
                  <c:v>0.778</c:v>
                </c:pt>
                <c:pt idx="3">
                  <c:v>0.761</c:v>
                </c:pt>
                <c:pt idx="4">
                  <c:v>0.651</c:v>
                </c:pt>
                <c:pt idx="5">
                  <c:v>0.675</c:v>
                </c:pt>
                <c:pt idx="6">
                  <c:v>0.664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 bwMode="auto">
            <a:prstGeom prst="rect">
              <a:avLst/>
            </a:prstGeom>
            <a:solidFill>
              <a:srgbClr val="F2A541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Sheet1!$A$2:$A$8</c:f>
              <c:multiLvlStrCache>
                <c:ptCount val="7"/>
                <c:lvl>
                  <c:pt idx="0">
                    <c:v>SVM</c:v>
                  </c:pt>
                  <c:pt idx="1">
                    <c:v>GB</c:v>
                  </c:pt>
                  <c:pt idx="2">
                    <c:v>RF</c:v>
                  </c:pt>
                  <c:pt idx="3">
                    <c:v>LogReg</c:v>
                  </c:pt>
                  <c:pt idx="4">
                    <c:v>NB</c:v>
                  </c:pt>
                  <c:pt idx="5">
                    <c:v>DT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0.808</c:v>
                </c:pt>
                <c:pt idx="1">
                  <c:v>0.794</c:v>
                </c:pt>
                <c:pt idx="2">
                  <c:v>0.766</c:v>
                </c:pt>
                <c:pt idx="3">
                  <c:v>0.753</c:v>
                </c:pt>
                <c:pt idx="4">
                  <c:v>0.678</c:v>
                </c:pt>
                <c:pt idx="5">
                  <c:v>0.672</c:v>
                </c:pt>
                <c:pt idx="6">
                  <c:v>0.58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</c:v>
                </c:pt>
              </c:strCache>
            </c:strRef>
          </c:tx>
          <c:spPr bwMode="auto">
            <a:prstGeom prst="rect">
              <a:avLst/>
            </a:prstGeom>
            <a:solidFill>
              <a:srgbClr val="5B7DB1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Sheet1!$A$2:$A$8</c:f>
              <c:multiLvlStrCache>
                <c:ptCount val="7"/>
                <c:lvl>
                  <c:pt idx="0">
                    <c:v>SVM</c:v>
                  </c:pt>
                  <c:pt idx="1">
                    <c:v>GB</c:v>
                  </c:pt>
                  <c:pt idx="2">
                    <c:v>RF</c:v>
                  </c:pt>
                  <c:pt idx="3">
                    <c:v>LogReg</c:v>
                  </c:pt>
                  <c:pt idx="4">
                    <c:v>NB</c:v>
                  </c:pt>
                  <c:pt idx="5">
                    <c:v>DT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0.899</c:v>
                </c:pt>
                <c:pt idx="1">
                  <c:v>0.886</c:v>
                </c:pt>
                <c:pt idx="2">
                  <c:v>0.86</c:v>
                </c:pt>
                <c:pt idx="3">
                  <c:v>0.837</c:v>
                </c:pt>
                <c:pt idx="4">
                  <c:v>0.683</c:v>
                </c:pt>
                <c:pt idx="5">
                  <c:v>0.648</c:v>
                </c:pt>
                <c:pt idx="6">
                  <c:v>0.752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100" b="0" i="0" u="none" strike="noStrike">
                  <a:solidFill>
                    <a:srgbClr val="1F2A37"/>
                  </a:solidFill>
                  <a:latin typeface="+mn-lt"/>
                </a:defRPr>
              </a:pPr>
              <a:endParaRPr/>
            </a:p>
          </c:txPr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9525" cap="flat">
              <a:solidFill>
                <a:srgbClr val="DCE8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00000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143000"/>
      <a:ext cx="5577840" cy="342900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Video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2E9E6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E457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dLbl>
              <c:idx val="1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numFmt formatCode="General" sourceLinked="0"/>
            <c:showBubbleSize val="0"/>
            <c:showCatName val="1"/>
            <c:showLeaderLines val="0"/>
            <c:showLegendKey val="0"/>
            <c:showPercent val="1"/>
            <c:showSerName val="0"/>
            <c:showVal val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strRef>
              <c:f>Sheet1!$A$2:$A$3</c:f>
              <c:strCache>
                <c:ptCount val="2"/>
                <c:pt idx="0">
                  <c:v>REAL</c:v>
                </c:pt>
                <c:pt idx="1">
                  <c:v>FAKE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398</c:v>
                </c:pt>
                <c:pt idx="1">
                  <c:v>1875</c:v>
                </c:pt>
              </c:numCache>
            </c:numRef>
          </c:val>
        </c:ser>
        <c:dLbls>
          <c:showBubbleSize val="0"/>
          <c:showCatName val="0"/>
          <c:showLegendKey val="0"/>
          <c:showPercent val="0"/>
          <c:showSerName val="0"/>
          <c:showVal val="0"/>
        </c:dLbls>
        <c:firstSliceAng val="0"/>
        <c:holeSize val="62"/>
      </c:doughnutChart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457200" y="1143000"/>
      <a:ext cx="3108960" cy="265176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Video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2E9E6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rgbClr val="E457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dLbl>
              <c:idx val="1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dLbl>
              <c:idx val="2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0"/>
              <c:spPr bwMode="auto"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/>
                </a:p>
              </c:txPr>
            </c:dLbl>
            <c:numFmt formatCode="General" sourceLinked="0"/>
            <c:showBubbleSize val="0"/>
            <c:showCatName val="1"/>
            <c:showLeaderLines val="0"/>
            <c:showLegendKey val="0"/>
            <c:showPercent val="1"/>
            <c:showSerName val="0"/>
            <c:showVal val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strRef>
              <c:f>Sheet1!$A$2:$A$4</c:f>
              <c:strCache>
                <c:ptCount val="3"/>
                <c:pt idx="0">
                  <c:v>OK</c:v>
                </c:pt>
                <c:pt idx="1">
                  <c:v>Chất lượng thấp</c:v>
                </c:pt>
                <c:pt idx="2">
                  <c:v>Không thấy mặt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1205</c:v>
                </c:pt>
                <c:pt idx="1">
                  <c:v>833</c:v>
                </c:pt>
                <c:pt idx="2">
                  <c:v>194</c:v>
                </c:pt>
              </c:numCache>
            </c:numRef>
          </c:val>
        </c:ser>
        <c:dLbls>
          <c:showBubbleSize val="0"/>
          <c:showCatName val="0"/>
          <c:showLegendKey val="0"/>
          <c:showPercent val="0"/>
          <c:showSerName val="0"/>
          <c:showVal val="0"/>
        </c:dLbls>
        <c:firstSliceAng val="0"/>
        <c:holeSize val="62"/>
      </c:doughnutChart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457200" y="1143000"/>
      <a:ext cx="2834640" cy="260604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Test 295 video (Real 50 · Fake 245)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7C86"/>
            </a:solidFill>
            <a:effectLst/>
          </c:spPr>
          <c:invertIfNegative val="0"/>
          <c:dLbls>
            <c:numFmt formatCode="0.0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Sheet1!$A$2:$A$10</c:f>
              <c:multiLvlStrCache>
                <c:ptCount val="9"/>
                <c:lvl>
                  <c:pt idx="0">
                    <c:v>B: Random Forest</c:v>
                  </c:pt>
                  <c:pt idx="1">
                    <c:v>B: SVM RBF</c:v>
                  </c:pt>
                  <c:pt idx="2">
                    <c:v>B: KNN</c:v>
                  </c:pt>
                  <c:pt idx="3">
                    <c:v>B: Decision Tree</c:v>
                  </c:pt>
                  <c:pt idx="4">
                    <c:v>B: LogReg</c:v>
                  </c:pt>
                  <c:pt idx="5">
                    <c:v>B: Grad. Boosting</c:v>
                  </c:pt>
                  <c:pt idx="6">
                    <c:v>B: Naive Bayes</c:v>
                  </c:pt>
                  <c:pt idx="7">
                    <c:v>A: Trung bình xác suất</c:v>
                  </c:pt>
                  <c:pt idx="8">
                    <c:v>A: Bỏ phiếu đa số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0.755</c:v>
                </c:pt>
                <c:pt idx="1">
                  <c:v>0.678</c:v>
                </c:pt>
                <c:pt idx="2">
                  <c:v>0.625</c:v>
                </c:pt>
                <c:pt idx="3">
                  <c:v>0.618</c:v>
                </c:pt>
                <c:pt idx="4">
                  <c:v>0.615</c:v>
                </c:pt>
                <c:pt idx="5">
                  <c:v>0.611</c:v>
                </c:pt>
                <c:pt idx="6">
                  <c:v>0.515</c:v>
                </c:pt>
                <c:pt idx="7">
                  <c:v>0.198</c:v>
                </c:pt>
                <c:pt idx="8">
                  <c:v>0.19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</c:v>
                </c:pt>
              </c:strCache>
            </c:strRef>
          </c:tx>
          <c:spPr bwMode="auto">
            <a:prstGeom prst="rect">
              <a:avLst/>
            </a:prstGeom>
            <a:solidFill>
              <a:srgbClr val="F2A541"/>
            </a:solidFill>
            <a:effectLst/>
          </c:spPr>
          <c:invertIfNegative val="0"/>
          <c:dLbls>
            <c:numFmt formatCode="0.0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Sheet1!$A$2:$A$10</c:f>
              <c:multiLvlStrCache>
                <c:ptCount val="9"/>
                <c:lvl>
                  <c:pt idx="0">
                    <c:v>B: Random Forest</c:v>
                  </c:pt>
                  <c:pt idx="1">
                    <c:v>B: SVM RBF</c:v>
                  </c:pt>
                  <c:pt idx="2">
                    <c:v>B: KNN</c:v>
                  </c:pt>
                  <c:pt idx="3">
                    <c:v>B: Decision Tree</c:v>
                  </c:pt>
                  <c:pt idx="4">
                    <c:v>B: LogReg</c:v>
                  </c:pt>
                  <c:pt idx="5">
                    <c:v>B: Grad. Boosting</c:v>
                  </c:pt>
                  <c:pt idx="6">
                    <c:v>B: Naive Bayes</c:v>
                  </c:pt>
                  <c:pt idx="7">
                    <c:v>A: Trung bình xác suất</c:v>
                  </c:pt>
                  <c:pt idx="8">
                    <c:v>A: Bỏ phiếu đa số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0.857</c:v>
                </c:pt>
                <c:pt idx="1">
                  <c:v>0.819</c:v>
                </c:pt>
                <c:pt idx="2">
                  <c:v>0.814</c:v>
                </c:pt>
                <c:pt idx="3">
                  <c:v>0.63</c:v>
                </c:pt>
                <c:pt idx="4">
                  <c:v>0.706</c:v>
                </c:pt>
                <c:pt idx="5">
                  <c:v>0.797</c:v>
                </c:pt>
                <c:pt idx="6">
                  <c:v>0.593</c:v>
                </c:pt>
                <c:pt idx="7">
                  <c:v>0.464</c:v>
                </c:pt>
                <c:pt idx="8">
                  <c:v>0.43</c:v>
                </c:pt>
              </c:numCache>
            </c:numRef>
          </c:val>
        </c:ser>
        <c:dLbls>
          <c:numFmt formatCode="0.0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000" b="0" i="0" u="none" strike="noStrike">
                  <a:solidFill>
                    <a:srgbClr val="1F2A37"/>
                  </a:solidFill>
                  <a:latin typeface="+mn-lt"/>
                </a:defRPr>
              </a:pPr>
              <a:endParaRPr/>
            </a:p>
          </c:txPr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0000"/>
          <c:min val="0.000000"/>
        </c:scaling>
        <c:delete val="1"/>
        <c:axPos val="b"/>
        <c:majorGridlines>
          <c:spPr bwMode="auto">
            <a:prstGeom prst="rect">
              <a:avLst/>
            </a:prstGeom>
            <a:ln w="9525" cap="flat">
              <a:solidFill>
                <a:srgbClr val="DC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143000"/>
      <a:ext cx="5577840" cy="347472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Độ chính xác theo epoch</a:t>
            </a:r>
            <a:endParaRPr/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 bwMode="auto">
            <a:prstGeom prst="rect">
              <a:avLst/>
            </a:prstGeom>
            <a:solidFill>
              <a:srgbClr val="6B7A86"/>
            </a:solidFill>
            <a:ln w="31750" cap="flat">
              <a:solidFill>
                <a:srgbClr val="6B7A86"/>
              </a:solidFill>
              <a:prstDash val="solid"/>
              <a:round/>
            </a:ln>
            <a:effectLst/>
          </c:spPr>
          <c:marker>
            <c:symbol val="circle"/>
            <c:size val="7"/>
            <c:spPr bwMode="auto">
              <a:prstGeom prst="rect">
                <a:avLst/>
              </a:prstGeom>
              <a:solidFill>
                <a:srgbClr val="6B7A86"/>
              </a:solidFill>
              <a:ln w="9525" cap="flat">
                <a:solidFill>
                  <a:srgbClr val="6B7A8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0.8397</c:v>
                </c:pt>
                <c:pt idx="1">
                  <c:v>0.9805</c:v>
                </c:pt>
                <c:pt idx="2">
                  <c:v>0.9859</c:v>
                </c:pt>
                <c:pt idx="3">
                  <c:v>0.988</c:v>
                </c:pt>
                <c:pt idx="4">
                  <c:v>0.9934</c:v>
                </c:pt>
                <c:pt idx="5">
                  <c:v>0.9913</c:v>
                </c:pt>
                <c:pt idx="6">
                  <c:v>0.992</c:v>
                </c:pt>
                <c:pt idx="7">
                  <c:v>0.9924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 (khung)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7C86"/>
            </a:solidFill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7"/>
            <c:spPr bwMode="auto">
              <a:prstGeom prst="rect">
                <a:avLst/>
              </a:prstGeom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0.9331</c:v>
                </c:pt>
                <c:pt idx="1">
                  <c:v>0.9714</c:v>
                </c:pt>
                <c:pt idx="2">
                  <c:v>0.9766</c:v>
                </c:pt>
                <c:pt idx="3">
                  <c:v>0.9921</c:v>
                </c:pt>
                <c:pt idx="4">
                  <c:v>0.9926</c:v>
                </c:pt>
                <c:pt idx="5">
                  <c:v>0.9914</c:v>
                </c:pt>
                <c:pt idx="6">
                  <c:v>0.9932</c:v>
                </c:pt>
                <c:pt idx="7">
                  <c:v>0.9935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 acc (video)</c:v>
                </c:pt>
              </c:strCache>
            </c:strRef>
          </c:tx>
          <c:spPr bwMode="auto">
            <a:prstGeom prst="rect">
              <a:avLst/>
            </a:prstGeom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7"/>
            <c:spPr bwMode="auto">
              <a:prstGeom prst="rect">
                <a:avLst/>
              </a:prstGeom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0.9325</c:v>
                </c:pt>
                <c:pt idx="1">
                  <c:v>0.9775</c:v>
                </c:pt>
                <c:pt idx="2">
                  <c:v>0.9871</c:v>
                </c:pt>
                <c:pt idx="3">
                  <c:v>0.9936</c:v>
                </c:pt>
                <c:pt idx="4">
                  <c:v>0.9904</c:v>
                </c:pt>
                <c:pt idx="5">
                  <c:v>0.9904</c:v>
                </c:pt>
                <c:pt idx="6">
                  <c:v>0.9904</c:v>
                </c:pt>
                <c:pt idx="7">
                  <c:v>0.9904</c:v>
                </c:pt>
              </c:numCache>
            </c:numRef>
          </c:val>
          <c:smooth val="0"/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100" b="0" i="0" u="none" strike="noStrike">
                  <a:solidFill>
                    <a:srgbClr val="1F2A37"/>
                  </a:solidFill>
                  <a:latin typeface="+mn-lt"/>
                </a:defRPr>
              </a:pPr>
              <a:endParaRPr/>
            </a:p>
          </c:txPr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B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B68"/>
                    </a:solidFill>
                    <a:latin typeface="+mn-lt"/>
                  </a:rPr>
                  <a:t>Epoch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00000"/>
          <c:min val="0.800000"/>
        </c:scaling>
        <c:delete val="0"/>
        <c:axPos val="l"/>
        <c:majorGridlines>
          <c:spPr bwMode="auto">
            <a:prstGeom prst="rect">
              <a:avLst/>
            </a:prstGeom>
            <a:ln w="9525" cap="flat">
              <a:solidFill>
                <a:srgbClr val="DCE8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0000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143000"/>
      <a:ext cx="5577840" cy="342900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embeddings/_rels/Microsoft_Excel_Worksheet4.xlsx.rels><?xml version="1.0" encoding="UTF-8" standalone="yes"?><Relationships xmlns="http://schemas.openxmlformats.org/package/2006/relationships"></Relationships>
</file>

<file path=ppt/embeddings/_rels/Microsoft_Excel_Worksheet5.xlsx.rels><?xml version="1.0" encoding="UTF-8" standalone="yes"?><Relationships xmlns="http://schemas.openxmlformats.org/package/2006/relationships"></Relationships>
</file>

<file path=ppt/embeddings/_rels/Microsoft_Excel_Worksheet6.xlsx.rels><?xml version="1.0" encoding="UTF-8" standalone="yes"?><Relationships xmlns="http://schemas.openxmlformats.org/package/2006/relationships"></Relationships>
</file>

<file path=ppt/embeddings/_rels/Microsoft_Excel_Worksheet7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6242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80477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7445038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146523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364740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894904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308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074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646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5275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022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2060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75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697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5993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827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433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2988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090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489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6069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464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456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6184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563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860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1709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3757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1782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6508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922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62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4629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232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289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805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759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6286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9117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69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500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7780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037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522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930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163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841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1418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13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5825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6680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110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5662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5088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319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9310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323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22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61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96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51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4095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9660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61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6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1846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830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22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653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259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919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30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81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982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7836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414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676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4738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106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616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95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3507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2287384" name="Text 1"/>
          <p:cNvSpPr/>
          <p:nvPr>
            <p:ph type="title" idx="101" hasCustomPrompt="1"/>
          </p:nvPr>
        </p:nvSpPr>
        <p:spPr bwMode="auto">
          <a:xfrm>
            <a:off x="548640" y="1325880"/>
            <a:ext cx="5212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3800"/>
          </a:p>
        </p:txBody>
      </p:sp>
      <p:sp>
        <p:nvSpPr>
          <p:cNvPr id="611116510" name="Text 1"/>
          <p:cNvSpPr/>
          <p:nvPr>
            <p:ph type="body" idx="102" hasCustomPrompt="1"/>
          </p:nvPr>
        </p:nvSpPr>
        <p:spPr bwMode="auto">
          <a:xfrm>
            <a:off x="54864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19806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66115138" name="Text 1"/>
          <p:cNvSpPr/>
          <p:nvPr>
            <p:ph type="title" idx="101" hasCustomPrompt="1"/>
          </p:nvPr>
        </p:nvSpPr>
        <p:spPr bwMode="auto">
          <a:xfrm>
            <a:off x="73152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3800"/>
          </a:p>
        </p:txBody>
      </p:sp>
      <p:sp>
        <p:nvSpPr>
          <p:cNvPr id="846594728" name="Text 1"/>
          <p:cNvSpPr/>
          <p:nvPr>
            <p:ph type="body" idx="102" hasCustomPrompt="1"/>
          </p:nvPr>
        </p:nvSpPr>
        <p:spPr bwMode="auto">
          <a:xfrm>
            <a:off x="731520" y="3017519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606087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3000"/>
          </a:p>
        </p:txBody>
      </p:sp>
      <p:sp>
        <p:nvSpPr>
          <p:cNvPr id="14073432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76442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 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5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6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7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657851" name="Text 0"/>
          <p:cNvSpPr txBox="1"/>
          <p:nvPr/>
        </p:nvSpPr>
        <p:spPr bwMode="auto">
          <a:xfrm>
            <a:off x="548640" y="777240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MACHINE LEARNING  ·  DEEP LEARNING</a:t>
            </a:r>
            <a:endParaRPr lang="en-US" sz="1200"/>
          </a:p>
        </p:txBody>
      </p:sp>
      <p:sp>
        <p:nvSpPr>
          <p:cNvPr id="173592807" name="Text 1"/>
          <p:cNvSpPr/>
          <p:nvPr>
            <p:ph type="title" idx="101" hasCustomPrompt="1"/>
          </p:nvPr>
        </p:nvSpPr>
        <p:spPr bwMode="auto">
          <a:xfrm>
            <a:off x="548640" y="13258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chemeClr val="tx1"/>
                </a:solidFill>
              </a:rPr>
              <a:t>Phát hiện Deepfake</a:t>
            </a:r>
            <a:endParaRPr lang="en-US" sz="3800"/>
          </a:p>
          <a:p>
            <a:pPr marL="0" indent="0" algn="l">
              <a:buNone/>
              <a:defRPr/>
            </a:pPr>
            <a:r>
              <a:rPr lang="en-US" sz="3800" b="1">
                <a:solidFill>
                  <a:schemeClr val="tx1"/>
                </a:solidFill>
              </a:rPr>
              <a:t>trên Ảnh và Video</a:t>
            </a:r>
            <a:endParaRPr lang="en-US" sz="3800"/>
          </a:p>
        </p:txBody>
      </p:sp>
      <p:sp>
        <p:nvSpPr>
          <p:cNvPr id="230673335" name="Text 1"/>
          <p:cNvSpPr/>
          <p:nvPr>
            <p:ph type="body" idx="102" hasCustomPrompt="1"/>
          </p:nvPr>
        </p:nvSpPr>
        <p:spPr bwMode="auto">
          <a:xfrm>
            <a:off x="548640" y="2971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chemeClr val="tx2"/>
                </a:solidFill>
              </a:rPr>
              <a:t>Từ Machine Learning truyền thống đến Deep Learning</a:t>
            </a:r>
            <a:endParaRPr lang="en-US" sz="1800"/>
          </a:p>
        </p:txBody>
      </p:sp>
      <p:sp>
        <p:nvSpPr>
          <p:cNvPr id="1572535444" name="Text 3"/>
          <p:cNvSpPr txBox="1"/>
          <p:nvPr/>
        </p:nvSpPr>
        <p:spPr bwMode="auto">
          <a:xfrm flipH="0" flipV="0">
            <a:off x="548639" y="4053195"/>
            <a:ext cx="5029199" cy="89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6"/>
                </a:solidFill>
              </a:rPr>
              <a:t>Thành</a:t>
            </a:r>
            <a:r>
              <a:rPr lang="vi-VN" sz="1400">
                <a:solidFill>
                  <a:schemeClr val="accent6"/>
                </a:solidFill>
              </a:rPr>
              <a:t> viên nhóm 5:</a:t>
            </a:r>
            <a:endParaRPr lang="vi-VN" sz="1400">
              <a:solidFill>
                <a:schemeClr val="accent6"/>
              </a:solidFill>
            </a:endParaRPr>
          </a:p>
          <a:p>
            <a:pPr marL="0" indent="0">
              <a:buNone/>
              <a:defRPr/>
            </a:pPr>
            <a:r>
              <a:rPr lang="vi-VN" sz="1400">
                <a:solidFill>
                  <a:schemeClr val="accent6"/>
                </a:solidFill>
              </a:rPr>
              <a:t>  -Nguyễn Xuân Đoàn Khuê</a:t>
            </a:r>
            <a:endParaRPr lang="vi-VN" sz="1400">
              <a:solidFill>
                <a:schemeClr val="accent6"/>
              </a:solidFill>
            </a:endParaRPr>
          </a:p>
          <a:p>
            <a:pPr marL="0" indent="0">
              <a:buNone/>
              <a:defRPr/>
            </a:pPr>
            <a:r>
              <a:rPr lang="vi-VN" sz="1400">
                <a:solidFill>
                  <a:schemeClr val="accent6"/>
                </a:solidFill>
              </a:rPr>
              <a:t>  -Phùng Trí Quân</a:t>
            </a:r>
            <a:endParaRPr lang="vi-VN" sz="1400">
              <a:solidFill>
                <a:schemeClr val="accent6"/>
              </a:solidFill>
            </a:endParaRPr>
          </a:p>
          <a:p>
            <a:pPr marL="0" indent="0">
              <a:buNone/>
              <a:defRPr/>
            </a:pPr>
            <a:r>
              <a:rPr lang="vi-VN" sz="1400">
                <a:solidFill>
                  <a:schemeClr val="accent6"/>
                </a:solidFill>
              </a:rPr>
              <a:t>  -Võ Trường An</a:t>
            </a:r>
            <a:endParaRPr lang="en-US" sz="1400"/>
          </a:p>
        </p:txBody>
      </p:sp>
      <p:sp>
        <p:nvSpPr>
          <p:cNvPr id="1366265036" name="Face backdrop"/>
          <p:cNvSpPr/>
          <p:nvPr/>
        </p:nvSpPr>
        <p:spPr bwMode="auto">
          <a:xfrm>
            <a:off x="5806440" y="1005840"/>
            <a:ext cx="2834640" cy="2834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06428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88002" y="1597133"/>
            <a:ext cx="1982461" cy="16520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87247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Bài toán và lộ trình</a:t>
            </a:r>
            <a:endParaRPr lang="en-US" sz="3000"/>
          </a:p>
        </p:txBody>
      </p:sp>
      <p:sp>
        <p:nvSpPr>
          <p:cNvPr id="146524360" name="Problem card"/>
          <p:cNvSpPr/>
          <p:nvPr/>
        </p:nvSpPr>
        <p:spPr bwMode="auto">
          <a:xfrm>
            <a:off x="457200" y="118872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523029779" name="Text 2"/>
          <p:cNvSpPr txBox="1"/>
          <p:nvPr/>
        </p:nvSpPr>
        <p:spPr bwMode="auto">
          <a:xfrm>
            <a:off x="6858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0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Bài toán</a:t>
            </a:r>
            <a:endParaRPr lang="en-US" sz="2000"/>
          </a:p>
        </p:txBody>
      </p:sp>
      <p:sp>
        <p:nvSpPr>
          <p:cNvPr id="660741193" name="Icon circle target"/>
          <p:cNvSpPr/>
          <p:nvPr/>
        </p:nvSpPr>
        <p:spPr bwMode="auto">
          <a:xfrm>
            <a:off x="68580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90248655" name="Image 0" descr="target ic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0100" y="1988820"/>
            <a:ext cx="228600" cy="228600"/>
          </a:xfrm>
          <a:prstGeom prst="rect">
            <a:avLst/>
          </a:prstGeom>
        </p:spPr>
      </p:pic>
      <p:sp>
        <p:nvSpPr>
          <p:cNvPr id="799446215" name="Text 4"/>
          <p:cNvSpPr txBox="1"/>
          <p:nvPr/>
        </p:nvSpPr>
        <p:spPr bwMode="auto">
          <a:xfrm>
            <a:off x="1280160" y="1801367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Phân loại nhị phân: khuôn mặt hoặc video là Real hay Fake</a:t>
            </a:r>
            <a:endParaRPr lang="en-US" sz="1400"/>
          </a:p>
        </p:txBody>
      </p:sp>
      <p:sp>
        <p:nvSpPr>
          <p:cNvPr id="1740166306" name="Icon circle db"/>
          <p:cNvSpPr/>
          <p:nvPr/>
        </p:nvSpPr>
        <p:spPr bwMode="auto">
          <a:xfrm>
            <a:off x="685800" y="2761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78252895" name="Image 1" descr="db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0100" y="2875788"/>
            <a:ext cx="228600" cy="228600"/>
          </a:xfrm>
          <a:prstGeom prst="rect">
            <a:avLst/>
          </a:prstGeom>
        </p:spPr>
      </p:pic>
      <p:sp>
        <p:nvSpPr>
          <p:cNvPr id="1940476739" name="Text 6"/>
          <p:cNvSpPr txBox="1"/>
          <p:nvPr/>
        </p:nvSpPr>
        <p:spPr bwMode="auto">
          <a:xfrm>
            <a:off x="1280160" y="268833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Nhãn quy ước: 1 = Real, 0 = Fake</a:t>
            </a:r>
            <a:endParaRPr lang="en-US" sz="1400"/>
          </a:p>
        </p:txBody>
      </p:sp>
      <p:sp>
        <p:nvSpPr>
          <p:cNvPr id="2118444743" name="Icon circle warn"/>
          <p:cNvSpPr/>
          <p:nvPr/>
        </p:nvSpPr>
        <p:spPr bwMode="auto">
          <a:xfrm>
            <a:off x="685800" y="36484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13145470" name="Image 2" descr="warn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00100" y="3762756"/>
            <a:ext cx="228600" cy="228600"/>
          </a:xfrm>
          <a:prstGeom prst="rect">
            <a:avLst/>
          </a:prstGeom>
        </p:spPr>
      </p:pic>
      <p:sp>
        <p:nvSpPr>
          <p:cNvPr id="1822835574" name="Text 8"/>
          <p:cNvSpPr txBox="1"/>
          <p:nvPr/>
        </p:nvSpPr>
        <p:spPr bwMode="auto">
          <a:xfrm>
            <a:off x="1280160" y="3575303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Thách thức: video bị nén, nhiều kỹ thuật sinh, dữ liệu lệch lớp</a:t>
            </a:r>
            <a:endParaRPr lang="en-US" sz="1400"/>
          </a:p>
        </p:txBody>
      </p:sp>
      <p:sp>
        <p:nvSpPr>
          <p:cNvPr id="1317098297" name="Step card 1"/>
          <p:cNvSpPr/>
          <p:nvPr/>
        </p:nvSpPr>
        <p:spPr bwMode="auto">
          <a:xfrm>
            <a:off x="4297680" y="1188720"/>
            <a:ext cx="4389120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9821446" name="Number 1"/>
          <p:cNvSpPr txBox="1"/>
          <p:nvPr/>
        </p:nvSpPr>
        <p:spPr bwMode="auto">
          <a:xfrm>
            <a:off x="4480560" y="14356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1</a:t>
            </a:r>
            <a:endParaRPr lang="en-US" sz="1800"/>
          </a:p>
        </p:txBody>
      </p:sp>
      <p:sp>
        <p:nvSpPr>
          <p:cNvPr id="2130103916" name="Text 11"/>
          <p:cNvSpPr txBox="1"/>
          <p:nvPr/>
        </p:nvSpPr>
        <p:spPr bwMode="auto">
          <a:xfrm>
            <a:off x="5212080" y="1280160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ML trên ảnh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2,311 đặc trưng thủ công, 7 thuật toán, chọn SVM RBF</a:t>
            </a:r>
            <a:endParaRPr lang="en-US" sz="1400"/>
          </a:p>
        </p:txBody>
      </p:sp>
      <p:sp>
        <p:nvSpPr>
          <p:cNvPr id="1077416097" name="Step card 2"/>
          <p:cNvSpPr/>
          <p:nvPr/>
        </p:nvSpPr>
        <p:spPr bwMode="auto">
          <a:xfrm>
            <a:off x="4297680" y="2359152"/>
            <a:ext cx="4389120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00402416" name="Number 2"/>
          <p:cNvSpPr txBox="1"/>
          <p:nvPr/>
        </p:nvSpPr>
        <p:spPr bwMode="auto">
          <a:xfrm>
            <a:off x="448056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2</a:t>
            </a:r>
            <a:endParaRPr lang="en-US" sz="1800"/>
          </a:p>
        </p:txBody>
      </p:sp>
      <p:sp>
        <p:nvSpPr>
          <p:cNvPr id="390511047" name="Text 14"/>
          <p:cNvSpPr txBox="1"/>
          <p:nvPr/>
        </p:nvSpPr>
        <p:spPr bwMode="auto">
          <a:xfrm>
            <a:off x="5212080" y="2450592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ML trên video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Dùng lại model ảnh (Cách A) hoặc train ở mức video (Cách B)</a:t>
            </a:r>
            <a:endParaRPr lang="en-US" sz="1400"/>
          </a:p>
        </p:txBody>
      </p:sp>
      <p:sp>
        <p:nvSpPr>
          <p:cNvPr id="1909583267" name="Step card 3"/>
          <p:cNvSpPr/>
          <p:nvPr/>
        </p:nvSpPr>
        <p:spPr bwMode="auto">
          <a:xfrm>
            <a:off x="4297680" y="3529584"/>
            <a:ext cx="4389120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806737683" name="Number 3"/>
          <p:cNvSpPr txBox="1"/>
          <p:nvPr/>
        </p:nvSpPr>
        <p:spPr bwMode="auto">
          <a:xfrm>
            <a:off x="4480560" y="37764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3</a:t>
            </a:r>
            <a:endParaRPr lang="en-US" sz="1800"/>
          </a:p>
        </p:txBody>
      </p:sp>
      <p:sp>
        <p:nvSpPr>
          <p:cNvPr id="1556442671" name="Text 17"/>
          <p:cNvSpPr txBox="1"/>
          <p:nvPr/>
        </p:nvSpPr>
        <p:spPr bwMode="auto">
          <a:xfrm>
            <a:off x="5212080" y="3621024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DL trên video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Fine-tune EfficientNet-B0 trên khung mặt</a:t>
            </a:r>
            <a:endParaRPr lang="en-US" sz="1400"/>
          </a:p>
        </p:txBody>
      </p:sp>
      <p:sp>
        <p:nvSpPr>
          <p:cNvPr id="8121598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880089" name="Text 0"/>
          <p:cNvSpPr txBox="1"/>
          <p:nvPr/>
        </p:nvSpPr>
        <p:spPr bwMode="auto">
          <a:xfrm>
            <a:off x="731520" y="8229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8000"/>
          </a:p>
        </p:txBody>
      </p:sp>
      <p:sp>
        <p:nvSpPr>
          <p:cNvPr id="1417796323" name="Text 1"/>
          <p:cNvSpPr/>
          <p:nvPr>
            <p:ph type="title" idx="101" hasCustomPrompt="1"/>
          </p:nvPr>
        </p:nvSpPr>
        <p:spPr bwMode="auto">
          <a:xfrm>
            <a:off x="731520" y="2148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chemeClr val="tx1"/>
                </a:solidFill>
              </a:rPr>
              <a:t>Machine Learning trên ảnh</a:t>
            </a:r>
            <a:endParaRPr lang="en-US" sz="3800"/>
          </a:p>
        </p:txBody>
      </p:sp>
      <p:sp>
        <p:nvSpPr>
          <p:cNvPr id="455603586" name="Text 1"/>
          <p:cNvSpPr/>
          <p:nvPr>
            <p:ph type="body" idx="102" hasCustomPrompt="1"/>
          </p:nvPr>
        </p:nvSpPr>
        <p:spPr bwMode="auto">
          <a:xfrm>
            <a:off x="731520" y="3017519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chemeClr val="tx2"/>
                </a:solidFill>
              </a:rPr>
              <a:t>Đặc trưng thủ công (LBP, HOG, FFT, màu) và 7 thuật toán phân loại</a:t>
            </a:r>
            <a:endParaRPr lang="en-US" sz="1800"/>
          </a:p>
        </p:txBody>
      </p:sp>
      <p:pic>
        <p:nvPicPr>
          <p:cNvPr id="3363561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29932" y="768078"/>
            <a:ext cx="1262037" cy="1051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236472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Dữ liệu ảnh khuôn mặt</a:t>
            </a:r>
            <a:endParaRPr lang="en-US" sz="3000"/>
          </a:p>
        </p:txBody>
      </p:sp>
      <p:graphicFrame>
        <p:nvGraphicFramePr>
          <p:cNvPr id="43713142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188720"/>
          <a:ext cx="475488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46304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Tập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Fake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Tổng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Train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70,001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70,001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140,002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Validation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19,787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19,641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39,428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5,413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5,492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10,905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Tổng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95,201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95,134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</a:rPr>
                        <a:t>190,335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955640358" name="Text 1"/>
          <p:cNvSpPr txBox="1"/>
          <p:nvPr/>
        </p:nvSpPr>
        <p:spPr bwMode="auto">
          <a:xfrm>
            <a:off x="457200" y="3611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Cấu trúc thư mục: Dataset/{Train, Validation, Test}/{Real, Fake}. Cả 3 tập được gộp lại rồi chia lại ở bước tiền xử lý.</a:t>
            </a:r>
            <a:endParaRPr lang="en-US" sz="1300"/>
          </a:p>
        </p:txBody>
      </p:sp>
      <p:sp>
        <p:nvSpPr>
          <p:cNvPr id="221750969" name="Stat card 1"/>
          <p:cNvSpPr/>
          <p:nvPr/>
        </p:nvSpPr>
        <p:spPr bwMode="auto">
          <a:xfrm>
            <a:off x="5486400" y="118872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88448466" name="Text 3"/>
          <p:cNvSpPr txBox="1"/>
          <p:nvPr/>
        </p:nvSpPr>
        <p:spPr bwMode="auto">
          <a:xfrm>
            <a:off x="5669280" y="1280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10,000</a:t>
            </a:r>
            <a:endParaRPr lang="en-US" sz="4400"/>
          </a:p>
        </p:txBody>
      </p:sp>
      <p:sp>
        <p:nvSpPr>
          <p:cNvPr id="511400111" name="Text 4"/>
          <p:cNvSpPr txBox="1"/>
          <p:nvPr/>
        </p:nvSpPr>
        <p:spPr bwMode="auto">
          <a:xfrm>
            <a:off x="566928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ảnh mỗi lớp, lấy ngẫu nhiên (seed 42)</a:t>
            </a:r>
            <a:endParaRPr lang="en-US" sz="1400"/>
          </a:p>
        </p:txBody>
      </p:sp>
      <p:sp>
        <p:nvSpPr>
          <p:cNvPr id="940348842" name="Stat card 2"/>
          <p:cNvSpPr/>
          <p:nvPr/>
        </p:nvSpPr>
        <p:spPr bwMode="auto">
          <a:xfrm>
            <a:off x="5486400" y="283464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65487495" name="Text 6"/>
          <p:cNvSpPr txBox="1"/>
          <p:nvPr/>
        </p:nvSpPr>
        <p:spPr bwMode="auto">
          <a:xfrm>
            <a:off x="566928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20,000</a:t>
            </a:r>
            <a:endParaRPr lang="en-US" sz="4400"/>
          </a:p>
        </p:txBody>
      </p:sp>
      <p:sp>
        <p:nvSpPr>
          <p:cNvPr id="801185199" name="Text 7"/>
          <p:cNvSpPr txBox="1"/>
          <p:nvPr/>
        </p:nvSpPr>
        <p:spPr bwMode="auto">
          <a:xfrm>
            <a:off x="566928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ảnh thô đưa vào pipeline tiền xử lý</a:t>
            </a:r>
            <a:endParaRPr lang="en-US" sz="1400"/>
          </a:p>
        </p:txBody>
      </p:sp>
      <p:sp>
        <p:nvSpPr>
          <p:cNvPr id="92296349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962912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Quy trình tiền xử lý</a:t>
            </a:r>
            <a:endParaRPr lang="en-US" sz="3000"/>
          </a:p>
        </p:txBody>
      </p:sp>
      <p:sp>
        <p:nvSpPr>
          <p:cNvPr id="1469439506" name="Icon circle crop"/>
          <p:cNvSpPr/>
          <p:nvPr/>
        </p:nvSpPr>
        <p:spPr bwMode="auto">
          <a:xfrm>
            <a:off x="457200" y="11887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82892615" name="Image 0" descr="crop ic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9788" y="1321308"/>
            <a:ext cx="265176" cy="265176"/>
          </a:xfrm>
          <a:prstGeom prst="rect">
            <a:avLst/>
          </a:prstGeom>
        </p:spPr>
      </p:pic>
      <p:sp>
        <p:nvSpPr>
          <p:cNvPr id="1813942936" name="Text 2"/>
          <p:cNvSpPr txBox="1"/>
          <p:nvPr/>
        </p:nvSpPr>
        <p:spPr bwMode="auto">
          <a:xfrm>
            <a:off x="1188720" y="116128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Cắt khuôn mặt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Haar Cascade, margin 0.3, resize 128×128</a:t>
            </a:r>
            <a:endParaRPr lang="en-US" sz="1400"/>
          </a:p>
        </p:txBody>
      </p:sp>
      <p:sp>
        <p:nvSpPr>
          <p:cNvPr id="781796367" name="Icon circle filter"/>
          <p:cNvSpPr/>
          <p:nvPr/>
        </p:nvSpPr>
        <p:spPr bwMode="auto">
          <a:xfrm>
            <a:off x="457200" y="18745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05697605" name="Image 1" descr="filter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9788" y="2007108"/>
            <a:ext cx="265176" cy="265176"/>
          </a:xfrm>
          <a:prstGeom prst="rect">
            <a:avLst/>
          </a:prstGeom>
        </p:spPr>
      </p:pic>
      <p:sp>
        <p:nvSpPr>
          <p:cNvPr id="2120580610" name="Text 4"/>
          <p:cNvSpPr txBox="1"/>
          <p:nvPr/>
        </p:nvSpPr>
        <p:spPr bwMode="auto">
          <a:xfrm>
            <a:off x="1188720" y="184708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Lọc ảnh mờ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Phương sai Laplacian &lt; 80</a:t>
            </a:r>
            <a:endParaRPr lang="en-US" sz="1400"/>
          </a:p>
        </p:txBody>
      </p:sp>
      <p:sp>
        <p:nvSpPr>
          <p:cNvPr id="1165944561" name="Icon circle clone"/>
          <p:cNvSpPr/>
          <p:nvPr/>
        </p:nvSpPr>
        <p:spPr bwMode="auto">
          <a:xfrm>
            <a:off x="457200" y="25603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26363652" name="Image 2" descr="clone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9788" y="2692908"/>
            <a:ext cx="265176" cy="265176"/>
          </a:xfrm>
          <a:prstGeom prst="rect">
            <a:avLst/>
          </a:prstGeom>
        </p:spPr>
      </p:pic>
      <p:sp>
        <p:nvSpPr>
          <p:cNvPr id="1344831966" name="Text 6"/>
          <p:cNvSpPr txBox="1"/>
          <p:nvPr/>
        </p:nvSpPr>
        <p:spPr bwMode="auto">
          <a:xfrm>
            <a:off x="1188720" y="253288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Lọc ảnh trùng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aHash, khoảng cách Hamming ≤ 5</a:t>
            </a:r>
            <a:endParaRPr lang="en-US" sz="1400"/>
          </a:p>
        </p:txBody>
      </p:sp>
      <p:sp>
        <p:nvSpPr>
          <p:cNvPr id="1391367913" name="Icon circle branch"/>
          <p:cNvSpPr/>
          <p:nvPr/>
        </p:nvSpPr>
        <p:spPr bwMode="auto">
          <a:xfrm>
            <a:off x="457200" y="32461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17488638" name="Image 3" descr="branch icon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89788" y="3378708"/>
            <a:ext cx="265176" cy="265176"/>
          </a:xfrm>
          <a:prstGeom prst="rect">
            <a:avLst/>
          </a:prstGeom>
        </p:spPr>
      </p:pic>
      <p:sp>
        <p:nvSpPr>
          <p:cNvPr id="1784854678" name="Text 8"/>
          <p:cNvSpPr txBox="1"/>
          <p:nvPr/>
        </p:nvSpPr>
        <p:spPr bwMode="auto">
          <a:xfrm>
            <a:off x="1188720" y="321868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Chia train/test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80/20, theo ảnh gốc, trước augment</a:t>
            </a:r>
            <a:endParaRPr lang="en-US" sz="1400"/>
          </a:p>
        </p:txBody>
      </p:sp>
      <p:sp>
        <p:nvSpPr>
          <p:cNvPr id="1966170271" name="Icon circle balance"/>
          <p:cNvSpPr/>
          <p:nvPr/>
        </p:nvSpPr>
        <p:spPr bwMode="auto">
          <a:xfrm>
            <a:off x="457200" y="39319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6103826" name="Image 4" descr="balance icon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89788" y="4064508"/>
            <a:ext cx="265176" cy="265176"/>
          </a:xfrm>
          <a:prstGeom prst="rect">
            <a:avLst/>
          </a:prstGeom>
        </p:spPr>
      </p:pic>
      <p:sp>
        <p:nvSpPr>
          <p:cNvPr id="693260720" name="Text 10"/>
          <p:cNvSpPr txBox="1"/>
          <p:nvPr/>
        </p:nvSpPr>
        <p:spPr bwMode="auto">
          <a:xfrm>
            <a:off x="1188720" y="390448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Cân bằng lớp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Xoay, lật, đổi sáng, chỉ áp dụng cho train</a:t>
            </a:r>
            <a:endParaRPr lang="en-US" sz="1400"/>
          </a:p>
        </p:txBody>
      </p:sp>
      <p:sp>
        <p:nvSpPr>
          <p:cNvPr id="1190119974" name="Leakage card"/>
          <p:cNvSpPr/>
          <p:nvPr/>
        </p:nvSpPr>
        <p:spPr bwMode="auto">
          <a:xfrm>
            <a:off x="5943600" y="118872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87428823" name="Icon circle shield"/>
          <p:cNvSpPr/>
          <p:nvPr/>
        </p:nvSpPr>
        <p:spPr bwMode="auto">
          <a:xfrm>
            <a:off x="617220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36848676" name="Image 5" descr="shield icon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309360" y="1508759"/>
            <a:ext cx="274320" cy="274320"/>
          </a:xfrm>
          <a:prstGeom prst="rect">
            <a:avLst/>
          </a:prstGeom>
        </p:spPr>
      </p:pic>
      <p:sp>
        <p:nvSpPr>
          <p:cNvPr id="2092145284" name="Text 13"/>
          <p:cNvSpPr txBox="1"/>
          <p:nvPr/>
        </p:nvSpPr>
        <p:spPr bwMode="auto">
          <a:xfrm>
            <a:off x="617220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Tránh data leakage</a:t>
            </a:r>
            <a:endParaRPr lang="en-US" sz="1700"/>
          </a:p>
        </p:txBody>
      </p:sp>
      <p:sp>
        <p:nvSpPr>
          <p:cNvPr id="1777617174" name="Text 14"/>
          <p:cNvSpPr txBox="1"/>
          <p:nvPr/>
        </p:nvSpPr>
        <p:spPr bwMode="auto">
          <a:xfrm>
            <a:off x="6172200" y="25146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Chia train/test trước, augment sau. Nếu augment trước, ảnh gốc và bản sao gần giống nhau sẽ rơi vào cả hai tập, làm điểm số bị thổi phồng.</a:t>
            </a:r>
            <a:endParaRPr lang="en-US" sz="1400"/>
          </a:p>
        </p:txBody>
      </p:sp>
      <p:sp>
        <p:nvSpPr>
          <p:cNvPr id="154911711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602213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Kết quả tiền xử lý</a:t>
            </a:r>
            <a:endParaRPr lang="en-US" sz="3000"/>
          </a:p>
        </p:txBody>
      </p:sp>
      <p:graphicFrame>
        <p:nvGraphicFramePr>
          <p:cNvPr id="14207981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99105782" name="Clean banner"/>
          <p:cNvSpPr/>
          <p:nvPr/>
        </p:nvSpPr>
        <p:spPr bwMode="auto">
          <a:xfrm>
            <a:off x="457200" y="3703320"/>
            <a:ext cx="4114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21137042" name="Text 2"/>
          <p:cNvSpPr txBox="1"/>
          <p:nvPr/>
        </p:nvSpPr>
        <p:spPr bwMode="auto">
          <a:xfrm>
            <a:off x="64008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20,000 → 15,106 ảnh sạch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Real 7,256 · Fake 7,850</a:t>
            </a:r>
            <a:endParaRPr lang="en-US" sz="1400"/>
          </a:p>
        </p:txBody>
      </p:sp>
      <p:graphicFrame>
        <p:nvGraphicFramePr>
          <p:cNvPr id="140730190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846320" y="1188720"/>
          <a:ext cx="384048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28800"/>
                <a:gridCol w="1005840"/>
                <a:gridCol w="1005840"/>
              </a:tblGrid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Tập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Real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Fake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Train gốc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5,805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6,280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Augment thêm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7C86"/>
                          </a:solidFill>
                        </a:rPr>
                        <a:t>+475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</a:rPr>
                        <a:t>Train cuối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</a:rPr>
                        <a:t>6,280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</a:rPr>
                        <a:t>6,280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Test (giữ nguyên)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1,451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1,570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36232352" name="Augment note"/>
          <p:cNvSpPr/>
          <p:nvPr/>
        </p:nvSpPr>
        <p:spPr bwMode="auto">
          <a:xfrm>
            <a:off x="4846320" y="356616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87828118" name="Text 4"/>
          <p:cNvSpPr txBox="1"/>
          <p:nvPr/>
        </p:nvSpPr>
        <p:spPr bwMode="auto">
          <a:xfrm>
            <a:off x="502920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Chỉ lớp Real được augment (+475) để hai lớp cân bằng. Tập test không augment, giữ phân bố tự nhiên.</a:t>
            </a:r>
            <a:endParaRPr lang="en-US" sz="1400"/>
          </a:p>
        </p:txBody>
      </p:sp>
      <p:sp>
        <p:nvSpPr>
          <p:cNvPr id="180249435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525648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Bốn nhóm đặc trưng thủ công</a:t>
            </a:r>
            <a:endParaRPr lang="en-US" sz="3000"/>
          </a:p>
        </p:txBody>
      </p:sp>
      <p:sp>
        <p:nvSpPr>
          <p:cNvPr id="252985259" name="Feature card LBP"/>
          <p:cNvSpPr/>
          <p:nvPr/>
        </p:nvSpPr>
        <p:spPr bwMode="auto">
          <a:xfrm>
            <a:off x="45720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8259968" name="Icon circle lbp"/>
          <p:cNvSpPr/>
          <p:nvPr/>
        </p:nvSpPr>
        <p:spPr bwMode="auto">
          <a:xfrm>
            <a:off x="640080" y="13716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82613935" name="Image 0" descr="lbp ic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2668" y="1504188"/>
            <a:ext cx="265176" cy="265176"/>
          </a:xfrm>
          <a:prstGeom prst="rect">
            <a:avLst/>
          </a:prstGeom>
        </p:spPr>
      </p:pic>
      <p:sp>
        <p:nvSpPr>
          <p:cNvPr id="1600583220" name="Text 3"/>
          <p:cNvSpPr txBox="1"/>
          <p:nvPr/>
        </p:nvSpPr>
        <p:spPr bwMode="auto">
          <a:xfrm>
            <a:off x="6400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LBP</a:t>
            </a:r>
            <a:endParaRPr lang="en-US" sz="1600"/>
          </a:p>
        </p:txBody>
      </p:sp>
      <p:sp>
        <p:nvSpPr>
          <p:cNvPr id="786308722" name="Text 4"/>
          <p:cNvSpPr txBox="1"/>
          <p:nvPr/>
        </p:nvSpPr>
        <p:spPr bwMode="auto">
          <a:xfrm>
            <a:off x="64008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18</a:t>
            </a:r>
            <a:endParaRPr lang="en-US" sz="3200"/>
          </a:p>
        </p:txBody>
      </p:sp>
      <p:sp>
        <p:nvSpPr>
          <p:cNvPr id="977037795" name="Text 5"/>
          <p:cNvSpPr txBox="1"/>
          <p:nvPr/>
        </p:nvSpPr>
        <p:spPr bwMode="auto">
          <a:xfrm>
            <a:off x="64008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Texture da, vùng ghép bất thường</a:t>
            </a:r>
            <a:endParaRPr lang="en-US" sz="1400"/>
          </a:p>
        </p:txBody>
      </p:sp>
      <p:sp>
        <p:nvSpPr>
          <p:cNvPr id="836288" name="Feature card HOG"/>
          <p:cNvSpPr/>
          <p:nvPr/>
        </p:nvSpPr>
        <p:spPr bwMode="auto">
          <a:xfrm>
            <a:off x="256032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25981247" name="Icon circle hog"/>
          <p:cNvSpPr/>
          <p:nvPr/>
        </p:nvSpPr>
        <p:spPr bwMode="auto">
          <a:xfrm>
            <a:off x="2743200" y="13716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54082743" name="Image 1" descr="hog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75788" y="1504188"/>
            <a:ext cx="265176" cy="265176"/>
          </a:xfrm>
          <a:prstGeom prst="rect">
            <a:avLst/>
          </a:prstGeom>
        </p:spPr>
      </p:pic>
      <p:sp>
        <p:nvSpPr>
          <p:cNvPr id="1812025412" name="Text 8"/>
          <p:cNvSpPr txBox="1"/>
          <p:nvPr/>
        </p:nvSpPr>
        <p:spPr bwMode="auto">
          <a:xfrm>
            <a:off x="27432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HOG</a:t>
            </a:r>
            <a:endParaRPr lang="en-US" sz="1600"/>
          </a:p>
        </p:txBody>
      </p:sp>
      <p:sp>
        <p:nvSpPr>
          <p:cNvPr id="1427301898" name="Text 9"/>
          <p:cNvSpPr txBox="1"/>
          <p:nvPr/>
        </p:nvSpPr>
        <p:spPr bwMode="auto">
          <a:xfrm>
            <a:off x="274320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1,764</a:t>
            </a:r>
            <a:endParaRPr lang="en-US" sz="3200"/>
          </a:p>
        </p:txBody>
      </p:sp>
      <p:sp>
        <p:nvSpPr>
          <p:cNvPr id="1145437283" name="Text 10"/>
          <p:cNvSpPr txBox="1"/>
          <p:nvPr/>
        </p:nvSpPr>
        <p:spPr bwMode="auto">
          <a:xfrm>
            <a:off x="274320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Hình dạng cạnh: mắt, mũi, miệng, viền mặt</a:t>
            </a:r>
            <a:endParaRPr lang="en-US" sz="1400"/>
          </a:p>
        </p:txBody>
      </p:sp>
      <p:sp>
        <p:nvSpPr>
          <p:cNvPr id="1459576789" name="Feature card FFT"/>
          <p:cNvSpPr/>
          <p:nvPr/>
        </p:nvSpPr>
        <p:spPr bwMode="auto">
          <a:xfrm>
            <a:off x="466344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01684913" name="Icon circle fft"/>
          <p:cNvSpPr/>
          <p:nvPr/>
        </p:nvSpPr>
        <p:spPr bwMode="auto">
          <a:xfrm>
            <a:off x="4846320" y="13716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3089224" name="Image 2" descr="fft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978908" y="1504188"/>
            <a:ext cx="265176" cy="265176"/>
          </a:xfrm>
          <a:prstGeom prst="rect">
            <a:avLst/>
          </a:prstGeom>
        </p:spPr>
      </p:pic>
      <p:sp>
        <p:nvSpPr>
          <p:cNvPr id="6113428" name="Text 13"/>
          <p:cNvSpPr txBox="1"/>
          <p:nvPr/>
        </p:nvSpPr>
        <p:spPr bwMode="auto">
          <a:xfrm>
            <a:off x="4846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FFT</a:t>
            </a:r>
            <a:endParaRPr lang="en-US" sz="1600"/>
          </a:p>
        </p:txBody>
      </p:sp>
      <p:sp>
        <p:nvSpPr>
          <p:cNvPr id="1596809158" name="Text 14"/>
          <p:cNvSpPr txBox="1"/>
          <p:nvPr/>
        </p:nvSpPr>
        <p:spPr bwMode="auto">
          <a:xfrm>
            <a:off x="484632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17</a:t>
            </a:r>
            <a:endParaRPr lang="en-US" sz="3200"/>
          </a:p>
        </p:txBody>
      </p:sp>
      <p:sp>
        <p:nvSpPr>
          <p:cNvPr id="1852157655" name="Text 15"/>
          <p:cNvSpPr txBox="1"/>
          <p:nvPr/>
        </p:nvSpPr>
        <p:spPr bwMode="auto">
          <a:xfrm>
            <a:off x="484632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Dấu vết GAN ở miền tần số cao</a:t>
            </a:r>
            <a:endParaRPr lang="en-US" sz="1400"/>
          </a:p>
        </p:txBody>
      </p:sp>
      <p:sp>
        <p:nvSpPr>
          <p:cNvPr id="621175755" name="Feature card Màu HSV"/>
          <p:cNvSpPr/>
          <p:nvPr/>
        </p:nvSpPr>
        <p:spPr bwMode="auto">
          <a:xfrm>
            <a:off x="676656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57828753" name="Icon circle palette"/>
          <p:cNvSpPr/>
          <p:nvPr/>
        </p:nvSpPr>
        <p:spPr bwMode="auto">
          <a:xfrm>
            <a:off x="6949440" y="13716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54625058" name="Image 3" descr="palette icon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082028" y="1504188"/>
            <a:ext cx="265176" cy="265176"/>
          </a:xfrm>
          <a:prstGeom prst="rect">
            <a:avLst/>
          </a:prstGeom>
        </p:spPr>
      </p:pic>
      <p:sp>
        <p:nvSpPr>
          <p:cNvPr id="1999147663" name="Text 18"/>
          <p:cNvSpPr txBox="1"/>
          <p:nvPr/>
        </p:nvSpPr>
        <p:spPr bwMode="auto">
          <a:xfrm>
            <a:off x="694944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Màu HSV</a:t>
            </a:r>
            <a:endParaRPr lang="en-US" sz="1600"/>
          </a:p>
        </p:txBody>
      </p:sp>
      <p:sp>
        <p:nvSpPr>
          <p:cNvPr id="1082259504" name="Text 19"/>
          <p:cNvSpPr txBox="1"/>
          <p:nvPr/>
        </p:nvSpPr>
        <p:spPr bwMode="auto">
          <a:xfrm>
            <a:off x="694944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512</a:t>
            </a:r>
            <a:endParaRPr lang="en-US" sz="3200"/>
          </a:p>
        </p:txBody>
      </p:sp>
      <p:sp>
        <p:nvSpPr>
          <p:cNvPr id="1154000016" name="Text 20"/>
          <p:cNvSpPr txBox="1"/>
          <p:nvPr/>
        </p:nvSpPr>
        <p:spPr bwMode="auto">
          <a:xfrm>
            <a:off x="694944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Lệch tông da khi ghép mặt</a:t>
            </a:r>
            <a:endParaRPr lang="en-US" sz="1400"/>
          </a:p>
        </p:txBody>
      </p:sp>
      <p:sp>
        <p:nvSpPr>
          <p:cNvPr id="1184203159" name="Text 21"/>
          <p:cNvSpPr txBox="1"/>
          <p:nvPr/>
        </p:nvSpPr>
        <p:spPr bwMode="auto"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18 + 1,764 + 17 + 512 = 2,311 đặc trưng cho mỗi ảnh 128×128</a:t>
            </a:r>
            <a:endParaRPr lang="en-US" sz="1800"/>
          </a:p>
        </p:txBody>
      </p:sp>
      <p:sp>
        <p:nvSpPr>
          <p:cNvPr id="185425827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885277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Ảnh Thật và ảnh Giả khác nhau thế nào</a:t>
            </a:r>
            <a:endParaRPr lang="en-US" sz="3000"/>
          </a:p>
        </p:txBody>
      </p:sp>
      <p:graphicFrame>
        <p:nvGraphicFramePr>
          <p:cNvPr id="1141233631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4324426" name="Insight 1"/>
          <p:cNvSpPr/>
          <p:nvPr/>
        </p:nvSpPr>
        <p:spPr bwMode="auto">
          <a:xfrm>
            <a:off x="5806440" y="1188720"/>
            <a:ext cx="28803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13116734" name="Icon circle search"/>
          <p:cNvSpPr/>
          <p:nvPr/>
        </p:nvSpPr>
        <p:spPr bwMode="auto">
          <a:xfrm>
            <a:off x="59436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56012016" name="Image 0" descr="search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57900" y="1577340"/>
            <a:ext cx="228600" cy="228600"/>
          </a:xfrm>
          <a:prstGeom prst="rect">
            <a:avLst/>
          </a:prstGeom>
        </p:spPr>
      </p:pic>
      <p:sp>
        <p:nvSpPr>
          <p:cNvPr id="538703708" name="Text 3"/>
          <p:cNvSpPr txBox="1"/>
          <p:nvPr/>
        </p:nvSpPr>
        <p:spPr bwMode="auto">
          <a:xfrm>
            <a:off x="6537960" y="12344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Ảnh Thật kém nét hơn ảnh Giả khoảng 33%, và ít năng lượng tần số cao hơn (−8.5%).</a:t>
            </a:r>
            <a:endParaRPr lang="en-US" sz="1300"/>
          </a:p>
        </p:txBody>
      </p:sp>
      <p:sp>
        <p:nvSpPr>
          <p:cNvPr id="604462610" name="Insight 2"/>
          <p:cNvSpPr/>
          <p:nvPr/>
        </p:nvSpPr>
        <p:spPr bwMode="auto">
          <a:xfrm>
            <a:off x="5806440" y="2331720"/>
            <a:ext cx="28803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14345869" name="Icon circle palette"/>
          <p:cNvSpPr/>
          <p:nvPr/>
        </p:nvSpPr>
        <p:spPr bwMode="auto">
          <a:xfrm>
            <a:off x="5943600" y="26060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31916954" name="Image 1" descr="palette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57900" y="2720340"/>
            <a:ext cx="228600" cy="228600"/>
          </a:xfrm>
          <a:prstGeom prst="rect">
            <a:avLst/>
          </a:prstGeom>
        </p:spPr>
      </p:pic>
      <p:sp>
        <p:nvSpPr>
          <p:cNvPr id="1665433064" name="Text 6"/>
          <p:cNvSpPr txBox="1"/>
          <p:nvPr/>
        </p:nvSpPr>
        <p:spPr bwMode="auto">
          <a:xfrm>
            <a:off x="6537960" y="23774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Độ sáng, màu sắc gần như giống nhau (chênh dưới 2%).</a:t>
            </a:r>
            <a:endParaRPr lang="en-US" sz="1300"/>
          </a:p>
        </p:txBody>
      </p:sp>
      <p:sp>
        <p:nvSpPr>
          <p:cNvPr id="1118548914" name="Insight 3"/>
          <p:cNvSpPr/>
          <p:nvPr/>
        </p:nvSpPr>
        <p:spPr bwMode="auto">
          <a:xfrm>
            <a:off x="5806440" y="3474720"/>
            <a:ext cx="28803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750065824" name="Icon circle layers"/>
          <p:cNvSpPr/>
          <p:nvPr/>
        </p:nvSpPr>
        <p:spPr bwMode="auto">
          <a:xfrm>
            <a:off x="594360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70862862" name="Image 2" descr="layers icon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057900" y="3863340"/>
            <a:ext cx="228600" cy="228600"/>
          </a:xfrm>
          <a:prstGeom prst="rect">
            <a:avLst/>
          </a:prstGeom>
        </p:spPr>
      </p:pic>
      <p:sp>
        <p:nvSpPr>
          <p:cNvPr id="575974861" name="Text 9"/>
          <p:cNvSpPr txBox="1"/>
          <p:nvPr/>
        </p:nvSpPr>
        <p:spPr bwMode="auto">
          <a:xfrm>
            <a:off x="6537960" y="35204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Khác biệt nhỏ và chồng lấn, cần kết hợp nhiều đặc trưng thay vì dùng riêng lẻ.</a:t>
            </a:r>
            <a:endParaRPr lang="en-US" sz="1300"/>
          </a:p>
        </p:txBody>
      </p:sp>
      <p:sp>
        <p:nvSpPr>
          <p:cNvPr id="135838915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00736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Phân tích khám phá dữ liệu</a:t>
            </a:r>
            <a:endParaRPr lang="en-US" sz="3000"/>
          </a:p>
        </p:txBody>
      </p:sp>
      <p:pic>
        <p:nvPicPr>
          <p:cNvPr id="1085068032" name="Image 0" descr="PCA 2D của đặc trưng ảnh: Real và Fake chồng lấ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188720"/>
            <a:ext cx="4023360" cy="3341218"/>
          </a:xfrm>
          <a:prstGeom prst="rect">
            <a:avLst/>
          </a:prstGeom>
        </p:spPr>
      </p:pic>
      <p:sp>
        <p:nvSpPr>
          <p:cNvPr id="2005458496" name="EDA point 1"/>
          <p:cNvSpPr/>
          <p:nvPr/>
        </p:nvSpPr>
        <p:spPr bwMode="auto">
          <a:xfrm>
            <a:off x="475488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683480510" name="Icon circle proj"/>
          <p:cNvSpPr/>
          <p:nvPr/>
        </p:nvSpPr>
        <p:spPr bwMode="auto">
          <a:xfrm>
            <a:off x="4892039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35623407" name="Image 1" descr="proj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6340" y="1577340"/>
            <a:ext cx="228600" cy="228600"/>
          </a:xfrm>
          <a:prstGeom prst="rect">
            <a:avLst/>
          </a:prstGeom>
        </p:spPr>
      </p:pic>
      <p:sp>
        <p:nvSpPr>
          <p:cNvPr id="1958515706" name="Text 3"/>
          <p:cNvSpPr txBox="1"/>
          <p:nvPr/>
        </p:nvSpPr>
        <p:spPr bwMode="auto">
          <a:xfrm>
            <a:off x="5486400" y="1234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PCA 2D trên 2,311 đặc trưng chuẩn hóa không tách được Real và Fake.</a:t>
            </a:r>
            <a:endParaRPr lang="en-US" sz="1400"/>
          </a:p>
        </p:txBody>
      </p:sp>
      <p:sp>
        <p:nvSpPr>
          <p:cNvPr id="978098309" name="EDA point 2"/>
          <p:cNvSpPr/>
          <p:nvPr/>
        </p:nvSpPr>
        <p:spPr bwMode="auto">
          <a:xfrm>
            <a:off x="4754880" y="2331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332085371" name="Icon circle brain"/>
          <p:cNvSpPr/>
          <p:nvPr/>
        </p:nvSpPr>
        <p:spPr bwMode="auto">
          <a:xfrm>
            <a:off x="4892039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80784771" name="Image 2" descr="brain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06340" y="2720340"/>
            <a:ext cx="228600" cy="228600"/>
          </a:xfrm>
          <a:prstGeom prst="rect">
            <a:avLst/>
          </a:prstGeom>
        </p:spPr>
      </p:pic>
      <p:sp>
        <p:nvSpPr>
          <p:cNvPr id="1007080775" name="Text 6"/>
          <p:cNvSpPr txBox="1"/>
          <p:nvPr/>
        </p:nvSpPr>
        <p:spPr bwMode="auto">
          <a:xfrm>
            <a:off x="548640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Ranh giới phi tuyến, nên thử mô hình phi tuyến như SVM RBF và boosting.</a:t>
            </a:r>
            <a:endParaRPr lang="en-US" sz="1400"/>
          </a:p>
        </p:txBody>
      </p:sp>
      <p:sp>
        <p:nvSpPr>
          <p:cNvPr id="1386980658" name="EDA point 3"/>
          <p:cNvSpPr/>
          <p:nvPr/>
        </p:nvSpPr>
        <p:spPr bwMode="auto">
          <a:xfrm>
            <a:off x="475488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62148998" name="Icon circle balance"/>
          <p:cNvSpPr/>
          <p:nvPr/>
        </p:nvSpPr>
        <p:spPr bwMode="auto">
          <a:xfrm>
            <a:off x="4892039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39619019" name="Image 3" descr="balance icon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06340" y="3863340"/>
            <a:ext cx="228600" cy="228600"/>
          </a:xfrm>
          <a:prstGeom prst="rect">
            <a:avLst/>
          </a:prstGeom>
        </p:spPr>
      </p:pic>
      <p:sp>
        <p:nvSpPr>
          <p:cNvPr id="291728557" name="Text 9"/>
          <p:cNvSpPr txBox="1"/>
          <p:nvPr/>
        </p:nvSpPr>
        <p:spPr bwMode="auto">
          <a:xfrm>
            <a:off x="548640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Tập train đã cân bằng: 6,280 Real và 6,280 Fake.</a:t>
            </a:r>
            <a:endParaRPr lang="en-US" sz="1400"/>
          </a:p>
        </p:txBody>
      </p:sp>
      <p:sp>
        <p:nvSpPr>
          <p:cNvPr id="233148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864565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Bảy thuật toán ML được so sánh</a:t>
            </a:r>
            <a:endParaRPr lang="en-US" sz="3000"/>
          </a:p>
        </p:txBody>
      </p:sp>
      <p:sp>
        <p:nvSpPr>
          <p:cNvPr id="103282623" name="Model card LogReg"/>
          <p:cNvSpPr/>
          <p:nvPr/>
        </p:nvSpPr>
        <p:spPr bwMode="auto">
          <a:xfrm>
            <a:off x="457200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56341150" name="Text 2"/>
          <p:cNvSpPr txBox="1"/>
          <p:nvPr/>
        </p:nvSpPr>
        <p:spPr bwMode="auto">
          <a:xfrm>
            <a:off x="621792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LogReg</a:t>
            </a:r>
            <a:endParaRPr lang="en-US" sz="2200"/>
          </a:p>
        </p:txBody>
      </p:sp>
      <p:sp>
        <p:nvSpPr>
          <p:cNvPr id="556462599" name="Text 3"/>
          <p:cNvSpPr txBox="1"/>
          <p:nvPr/>
        </p:nvSpPr>
        <p:spPr bwMode="auto">
          <a:xfrm>
            <a:off x="621792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Logistic Regression</a:t>
            </a:r>
            <a:endParaRPr lang="en-US" sz="1400"/>
          </a:p>
        </p:txBody>
      </p:sp>
      <p:sp>
        <p:nvSpPr>
          <p:cNvPr id="211432215" name="Text 4"/>
          <p:cNvSpPr txBox="1"/>
          <p:nvPr/>
        </p:nvSpPr>
        <p:spPr bwMode="auto">
          <a:xfrm>
            <a:off x="621792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max_iter = 1000</a:t>
            </a:r>
            <a:endParaRPr lang="en-US" sz="1300"/>
          </a:p>
        </p:txBody>
      </p:sp>
      <p:sp>
        <p:nvSpPr>
          <p:cNvPr id="56285418" name="Model card KNN"/>
          <p:cNvSpPr/>
          <p:nvPr/>
        </p:nvSpPr>
        <p:spPr bwMode="auto">
          <a:xfrm>
            <a:off x="2560320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12848190" name="Text 6"/>
          <p:cNvSpPr txBox="1"/>
          <p:nvPr/>
        </p:nvSpPr>
        <p:spPr bwMode="auto">
          <a:xfrm>
            <a:off x="2724911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KNN</a:t>
            </a:r>
            <a:endParaRPr lang="en-US" sz="2200"/>
          </a:p>
        </p:txBody>
      </p:sp>
      <p:sp>
        <p:nvSpPr>
          <p:cNvPr id="968624462" name="Text 7"/>
          <p:cNvSpPr txBox="1"/>
          <p:nvPr/>
        </p:nvSpPr>
        <p:spPr bwMode="auto">
          <a:xfrm>
            <a:off x="2724911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K-Nearest Neighbors</a:t>
            </a:r>
            <a:endParaRPr lang="en-US" sz="1400"/>
          </a:p>
        </p:txBody>
      </p:sp>
      <p:sp>
        <p:nvSpPr>
          <p:cNvPr id="1617829496" name="Text 8"/>
          <p:cNvSpPr txBox="1"/>
          <p:nvPr/>
        </p:nvSpPr>
        <p:spPr bwMode="auto">
          <a:xfrm>
            <a:off x="2724911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k = 7</a:t>
            </a:r>
            <a:endParaRPr lang="en-US" sz="1300"/>
          </a:p>
        </p:txBody>
      </p:sp>
      <p:sp>
        <p:nvSpPr>
          <p:cNvPr id="1903741692" name="Model card NB"/>
          <p:cNvSpPr/>
          <p:nvPr/>
        </p:nvSpPr>
        <p:spPr bwMode="auto">
          <a:xfrm>
            <a:off x="4663440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83282688" name="Text 10"/>
          <p:cNvSpPr txBox="1"/>
          <p:nvPr/>
        </p:nvSpPr>
        <p:spPr bwMode="auto">
          <a:xfrm>
            <a:off x="4828032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NB</a:t>
            </a:r>
            <a:endParaRPr lang="en-US" sz="2200"/>
          </a:p>
        </p:txBody>
      </p:sp>
      <p:sp>
        <p:nvSpPr>
          <p:cNvPr id="1498687739" name="Text 11"/>
          <p:cNvSpPr txBox="1"/>
          <p:nvPr/>
        </p:nvSpPr>
        <p:spPr bwMode="auto">
          <a:xfrm>
            <a:off x="4828032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Naive Bayes</a:t>
            </a:r>
            <a:endParaRPr lang="en-US" sz="1400"/>
          </a:p>
        </p:txBody>
      </p:sp>
      <p:sp>
        <p:nvSpPr>
          <p:cNvPr id="313073197" name="Text 12"/>
          <p:cNvSpPr txBox="1"/>
          <p:nvPr/>
        </p:nvSpPr>
        <p:spPr bwMode="auto">
          <a:xfrm>
            <a:off x="4828032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Gaussian</a:t>
            </a:r>
            <a:endParaRPr lang="en-US" sz="1300"/>
          </a:p>
        </p:txBody>
      </p:sp>
      <p:sp>
        <p:nvSpPr>
          <p:cNvPr id="226519940" name="Model card DT"/>
          <p:cNvSpPr/>
          <p:nvPr/>
        </p:nvSpPr>
        <p:spPr bwMode="auto">
          <a:xfrm>
            <a:off x="6766560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774991982" name="Text 14"/>
          <p:cNvSpPr txBox="1"/>
          <p:nvPr/>
        </p:nvSpPr>
        <p:spPr bwMode="auto">
          <a:xfrm>
            <a:off x="6931152" y="1298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DT</a:t>
            </a:r>
            <a:endParaRPr lang="en-US" sz="2200"/>
          </a:p>
        </p:txBody>
      </p:sp>
      <p:sp>
        <p:nvSpPr>
          <p:cNvPr id="649087737" name="Text 15"/>
          <p:cNvSpPr txBox="1"/>
          <p:nvPr/>
        </p:nvSpPr>
        <p:spPr bwMode="auto">
          <a:xfrm>
            <a:off x="6931152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Decision Tree</a:t>
            </a:r>
            <a:endParaRPr lang="en-US" sz="1400"/>
          </a:p>
        </p:txBody>
      </p:sp>
      <p:sp>
        <p:nvSpPr>
          <p:cNvPr id="1999250726" name="Text 16"/>
          <p:cNvSpPr txBox="1"/>
          <p:nvPr/>
        </p:nvSpPr>
        <p:spPr bwMode="auto">
          <a:xfrm>
            <a:off x="6931152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max_depth = 12</a:t>
            </a:r>
            <a:endParaRPr lang="en-US" sz="1300"/>
          </a:p>
        </p:txBody>
      </p:sp>
      <p:sp>
        <p:nvSpPr>
          <p:cNvPr id="941197181" name="Model card RF"/>
          <p:cNvSpPr/>
          <p:nvPr/>
        </p:nvSpPr>
        <p:spPr bwMode="auto">
          <a:xfrm>
            <a:off x="457200" y="274320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23431442" name="Text 18"/>
          <p:cNvSpPr txBox="1"/>
          <p:nvPr/>
        </p:nvSpPr>
        <p:spPr bwMode="auto">
          <a:xfrm>
            <a:off x="621792" y="2852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RF</a:t>
            </a:r>
            <a:endParaRPr lang="en-US" sz="2200"/>
          </a:p>
        </p:txBody>
      </p:sp>
      <p:sp>
        <p:nvSpPr>
          <p:cNvPr id="976050201" name="Text 19"/>
          <p:cNvSpPr txBox="1"/>
          <p:nvPr/>
        </p:nvSpPr>
        <p:spPr bwMode="auto">
          <a:xfrm>
            <a:off x="621792" y="3310127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Random Forest</a:t>
            </a:r>
            <a:endParaRPr lang="en-US" sz="1400"/>
          </a:p>
        </p:txBody>
      </p:sp>
      <p:sp>
        <p:nvSpPr>
          <p:cNvPr id="1408154712" name="Text 20"/>
          <p:cNvSpPr txBox="1"/>
          <p:nvPr/>
        </p:nvSpPr>
        <p:spPr bwMode="auto">
          <a:xfrm>
            <a:off x="621792" y="36758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300 cây</a:t>
            </a:r>
            <a:endParaRPr lang="en-US" sz="1300"/>
          </a:p>
        </p:txBody>
      </p:sp>
      <p:sp>
        <p:nvSpPr>
          <p:cNvPr id="1083137238" name="Model card SVM"/>
          <p:cNvSpPr/>
          <p:nvPr/>
        </p:nvSpPr>
        <p:spPr bwMode="auto">
          <a:xfrm>
            <a:off x="2560320" y="274320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217948755" name="Text 22"/>
          <p:cNvSpPr txBox="1"/>
          <p:nvPr/>
        </p:nvSpPr>
        <p:spPr bwMode="auto">
          <a:xfrm>
            <a:off x="2724911" y="2852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SVM</a:t>
            </a:r>
            <a:endParaRPr lang="en-US" sz="2200"/>
          </a:p>
        </p:txBody>
      </p:sp>
      <p:sp>
        <p:nvSpPr>
          <p:cNvPr id="335880546" name="Text 23"/>
          <p:cNvSpPr txBox="1"/>
          <p:nvPr/>
        </p:nvSpPr>
        <p:spPr bwMode="auto">
          <a:xfrm>
            <a:off x="2724911" y="3310127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SVM (kernel RBF)</a:t>
            </a:r>
            <a:endParaRPr lang="en-US" sz="1400"/>
          </a:p>
        </p:txBody>
      </p:sp>
      <p:sp>
        <p:nvSpPr>
          <p:cNvPr id="600630079" name="Text 24"/>
          <p:cNvSpPr txBox="1"/>
          <p:nvPr/>
        </p:nvSpPr>
        <p:spPr bwMode="auto">
          <a:xfrm>
            <a:off x="2724911" y="36758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C = 2.0</a:t>
            </a:r>
            <a:endParaRPr lang="en-US" sz="1300"/>
          </a:p>
        </p:txBody>
      </p:sp>
      <p:sp>
        <p:nvSpPr>
          <p:cNvPr id="116195578" name="Model card GB"/>
          <p:cNvSpPr/>
          <p:nvPr/>
        </p:nvSpPr>
        <p:spPr bwMode="auto">
          <a:xfrm>
            <a:off x="4663440" y="274320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669928522" name="Text 26"/>
          <p:cNvSpPr txBox="1"/>
          <p:nvPr/>
        </p:nvSpPr>
        <p:spPr bwMode="auto">
          <a:xfrm>
            <a:off x="4828032" y="2852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GB</a:t>
            </a:r>
            <a:endParaRPr lang="en-US" sz="2200"/>
          </a:p>
        </p:txBody>
      </p:sp>
      <p:sp>
        <p:nvSpPr>
          <p:cNvPr id="630304808" name="Text 27"/>
          <p:cNvSpPr txBox="1"/>
          <p:nvPr/>
        </p:nvSpPr>
        <p:spPr bwMode="auto">
          <a:xfrm>
            <a:off x="4828032" y="3310127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Gradient Boosting</a:t>
            </a:r>
            <a:endParaRPr lang="en-US" sz="1400"/>
          </a:p>
        </p:txBody>
      </p:sp>
      <p:sp>
        <p:nvSpPr>
          <p:cNvPr id="1558818299" name="Text 28"/>
          <p:cNvSpPr txBox="1"/>
          <p:nvPr/>
        </p:nvSpPr>
        <p:spPr bwMode="auto">
          <a:xfrm>
            <a:off x="4828032" y="36758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mặc định sklearn</a:t>
            </a:r>
            <a:endParaRPr lang="en-US" sz="1300"/>
          </a:p>
        </p:txBody>
      </p:sp>
      <p:sp>
        <p:nvSpPr>
          <p:cNvPr id="193748044" name="Common settings card"/>
          <p:cNvSpPr/>
          <p:nvPr/>
        </p:nvSpPr>
        <p:spPr bwMode="auto">
          <a:xfrm>
            <a:off x="6766560" y="2743200"/>
            <a:ext cx="192024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</p:spPr>
      </p:sp>
      <p:sp>
        <p:nvSpPr>
          <p:cNvPr id="1675774235" name="Text 30"/>
          <p:cNvSpPr txBox="1"/>
          <p:nvPr/>
        </p:nvSpPr>
        <p:spPr bwMode="auto">
          <a:xfrm>
            <a:off x="6931152" y="285292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000" b="1">
                <a:solidFill>
                  <a:schemeClr val="bg1"/>
                </a:solidFill>
              </a:rPr>
              <a:t>Thiết lập chung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StandardScaler, class_weight = balanced (nếu hỗ trợ)</a:t>
            </a:r>
            <a:endParaRPr lang="en-US" sz="1400"/>
          </a:p>
        </p:txBody>
      </p:sp>
      <p:sp>
        <p:nvSpPr>
          <p:cNvPr id="1900517830" name="Text 31"/>
          <p:cNvSpPr txBox="1"/>
          <p:nvPr/>
        </p:nvSpPr>
        <p:spPr bwMode="auto"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Đánh giá trên tập test 3,021 ảnh (Real 1,451 · Fake 1,570), chọn model tốt nhất theo F1.</a:t>
            </a:r>
            <a:endParaRPr lang="en-US" sz="1200"/>
          </a:p>
        </p:txBody>
      </p:sp>
      <p:sp>
        <p:nvSpPr>
          <p:cNvPr id="10812699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831720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Kết quả ML trên ảnh</a:t>
            </a:r>
            <a:endParaRPr lang="en-US" sz="3000"/>
          </a:p>
        </p:txBody>
      </p:sp>
      <p:graphicFrame>
        <p:nvGraphicFramePr>
          <p:cNvPr id="1100827657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55778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2191314" name="Best model card"/>
          <p:cNvSpPr/>
          <p:nvPr/>
        </p:nvSpPr>
        <p:spPr bwMode="auto">
          <a:xfrm>
            <a:off x="6309360" y="118872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240598585" name="Text 2"/>
          <p:cNvSpPr txBox="1"/>
          <p:nvPr/>
        </p:nvSpPr>
        <p:spPr bwMode="auto">
          <a:xfrm>
            <a:off x="649224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SVM RBF</a:t>
            </a:r>
            <a:endParaRPr lang="en-US" sz="1400"/>
          </a:p>
        </p:txBody>
      </p:sp>
      <p:sp>
        <p:nvSpPr>
          <p:cNvPr id="796307149" name="Text 3"/>
          <p:cNvSpPr txBox="1"/>
          <p:nvPr/>
        </p:nvSpPr>
        <p:spPr bwMode="auto">
          <a:xfrm>
            <a:off x="6492240" y="16002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81.6%</a:t>
            </a:r>
            <a:endParaRPr lang="en-US" sz="4400"/>
          </a:p>
        </p:txBody>
      </p:sp>
      <p:sp>
        <p:nvSpPr>
          <p:cNvPr id="621556941" name="Text 4"/>
          <p:cNvSpPr txBox="1"/>
          <p:nvPr/>
        </p:nvSpPr>
        <p:spPr bwMode="auto">
          <a:xfrm>
            <a:off x="6492240" y="2423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Accuracy tốt nhất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F1 0.808 · AUC 0.899</a:t>
            </a:r>
            <a:endParaRPr lang="en-US" sz="1400"/>
          </a:p>
        </p:txBody>
      </p:sp>
      <p:sp>
        <p:nvSpPr>
          <p:cNvPr id="31563968" name="Limit card"/>
          <p:cNvSpPr/>
          <p:nvPr/>
        </p:nvSpPr>
        <p:spPr bwMode="auto">
          <a:xfrm>
            <a:off x="6309360" y="338328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79374756" name="Text 6"/>
          <p:cNvSpPr txBox="1"/>
          <p:nvPr/>
        </p:nvSpPr>
        <p:spPr bwMode="auto">
          <a:xfrm>
            <a:off x="649224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Đặc trưng thủ công chạm trần ở khoảng 82%.</a:t>
            </a:r>
            <a:endParaRPr lang="en-US" sz="1400"/>
          </a:p>
        </p:txBody>
      </p:sp>
      <p:sp>
        <p:nvSpPr>
          <p:cNvPr id="64537382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00376" name="Text 0"/>
          <p:cNvSpPr txBox="1"/>
          <p:nvPr/>
        </p:nvSpPr>
        <p:spPr bwMode="auto">
          <a:xfrm>
            <a:off x="731520" y="8229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8000"/>
          </a:p>
        </p:txBody>
      </p:sp>
      <p:sp>
        <p:nvSpPr>
          <p:cNvPr id="2111922639" name="Text 1"/>
          <p:cNvSpPr/>
          <p:nvPr>
            <p:ph type="title" idx="101" hasCustomPrompt="1"/>
          </p:nvPr>
        </p:nvSpPr>
        <p:spPr bwMode="auto">
          <a:xfrm>
            <a:off x="731520" y="2148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chemeClr val="tx1"/>
                </a:solidFill>
              </a:rPr>
              <a:t>Machine Learning trên video</a:t>
            </a:r>
            <a:endParaRPr lang="en-US" sz="3800"/>
          </a:p>
        </p:txBody>
      </p:sp>
      <p:sp>
        <p:nvSpPr>
          <p:cNvPr id="176102676" name="Text 1"/>
          <p:cNvSpPr/>
          <p:nvPr>
            <p:ph type="body" idx="102" hasCustomPrompt="1"/>
          </p:nvPr>
        </p:nvSpPr>
        <p:spPr bwMode="auto">
          <a:xfrm>
            <a:off x="731520" y="3017519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chemeClr val="tx2"/>
                </a:solidFill>
              </a:rPr>
              <a:t>Dùng lại model ảnh (Cách A) so với train trực tiếp ở mức video (Cách B)</a:t>
            </a:r>
            <a:endParaRPr lang="en-US" sz="1800"/>
          </a:p>
        </p:txBody>
      </p:sp>
      <p:pic>
        <p:nvPicPr>
          <p:cNvPr id="20741051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44507" y="799997"/>
            <a:ext cx="1454019" cy="12116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804038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Dữ liệu video DFDC part 15</a:t>
            </a:r>
            <a:endParaRPr lang="en-US" sz="3000"/>
          </a:p>
        </p:txBody>
      </p:sp>
      <p:graphicFrame>
        <p:nvGraphicFramePr>
          <p:cNvPr id="408388094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3108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13817860" name="Text 1"/>
          <p:cNvSpPr txBox="1"/>
          <p:nvPr/>
        </p:nvSpPr>
        <p:spPr bwMode="auto">
          <a:xfrm>
            <a:off x="146304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2,273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video</a:t>
            </a:r>
            <a:endParaRPr lang="en-US" sz="1400"/>
          </a:p>
        </p:txBody>
      </p:sp>
      <p:sp>
        <p:nvSpPr>
          <p:cNvPr id="984725999" name="Legend dot real"/>
          <p:cNvSpPr/>
          <p:nvPr/>
        </p:nvSpPr>
        <p:spPr bwMode="auto">
          <a:xfrm>
            <a:off x="548640" y="393192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92247811" name="Text 3"/>
          <p:cNvSpPr txBox="1"/>
          <p:nvPr/>
        </p:nvSpPr>
        <p:spPr bwMode="auto">
          <a:xfrm>
            <a:off x="822960" y="38770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REAL 398 (17.5%)</a:t>
            </a:r>
            <a:endParaRPr lang="en-US" sz="1300"/>
          </a:p>
        </p:txBody>
      </p:sp>
      <p:sp>
        <p:nvSpPr>
          <p:cNvPr id="350779541" name="Legend dot fake"/>
          <p:cNvSpPr/>
          <p:nvPr/>
        </p:nvSpPr>
        <p:spPr bwMode="auto">
          <a:xfrm>
            <a:off x="2148840" y="393192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7327345" name="Text 5"/>
          <p:cNvSpPr txBox="1"/>
          <p:nvPr/>
        </p:nvSpPr>
        <p:spPr bwMode="auto">
          <a:xfrm>
            <a:off x="2423160" y="3877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FAKE 1,875 (82.5%)</a:t>
            </a:r>
            <a:endParaRPr lang="en-US" sz="1300"/>
          </a:p>
        </p:txBody>
      </p:sp>
      <p:sp>
        <p:nvSpPr>
          <p:cNvPr id="109204899" name="Video stat 1"/>
          <p:cNvSpPr/>
          <p:nvPr/>
        </p:nvSpPr>
        <p:spPr bwMode="auto">
          <a:xfrm>
            <a:off x="4114800" y="1188720"/>
            <a:ext cx="45720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207882115" name="Text 7"/>
          <p:cNvSpPr txBox="1"/>
          <p:nvPr/>
        </p:nvSpPr>
        <p:spPr bwMode="auto">
          <a:xfrm>
            <a:off x="4251960" y="1188720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2,232</a:t>
            </a:r>
            <a:endParaRPr lang="en-US" sz="2800"/>
          </a:p>
        </p:txBody>
      </p:sp>
      <p:sp>
        <p:nvSpPr>
          <p:cNvPr id="1852416186" name="Text 8"/>
          <p:cNvSpPr txBox="1"/>
          <p:nvPr/>
        </p:nvSpPr>
        <p:spPr bwMode="auto">
          <a:xfrm>
            <a:off x="5577840" y="1188720"/>
            <a:ext cx="30175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video dùng để học và đánh giá (Real 393 · Fake 1,839)</a:t>
            </a:r>
            <a:endParaRPr lang="en-US" sz="1400"/>
          </a:p>
        </p:txBody>
      </p:sp>
      <p:sp>
        <p:nvSpPr>
          <p:cNvPr id="1466030168" name="Video stat 2"/>
          <p:cNvSpPr/>
          <p:nvPr/>
        </p:nvSpPr>
        <p:spPr bwMode="auto">
          <a:xfrm>
            <a:off x="4114800" y="2084832"/>
            <a:ext cx="45720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849818831" name="Text 10"/>
          <p:cNvSpPr txBox="1"/>
          <p:nvPr/>
        </p:nvSpPr>
        <p:spPr bwMode="auto">
          <a:xfrm>
            <a:off x="4251960" y="2084832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393</a:t>
            </a:r>
            <a:endParaRPr lang="en-US" sz="2800"/>
          </a:p>
        </p:txBody>
      </p:sp>
      <p:sp>
        <p:nvSpPr>
          <p:cNvPr id="25141688" name="Text 11"/>
          <p:cNvSpPr txBox="1"/>
          <p:nvPr/>
        </p:nvSpPr>
        <p:spPr bwMode="auto">
          <a:xfrm>
            <a:off x="5577840" y="2084832"/>
            <a:ext cx="30175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nhóm video gốc, chia train/test 75/25 theo nhóm</a:t>
            </a:r>
            <a:endParaRPr lang="en-US" sz="1400"/>
          </a:p>
        </p:txBody>
      </p:sp>
      <p:sp>
        <p:nvSpPr>
          <p:cNvPr id="1478532389" name="Video stat 3"/>
          <p:cNvSpPr/>
          <p:nvPr/>
        </p:nvSpPr>
        <p:spPr bwMode="auto">
          <a:xfrm>
            <a:off x="4114800" y="2980944"/>
            <a:ext cx="45720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316503501" name="Text 13"/>
          <p:cNvSpPr txBox="1"/>
          <p:nvPr/>
        </p:nvSpPr>
        <p:spPr bwMode="auto">
          <a:xfrm>
            <a:off x="4251960" y="2980944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5</a:t>
            </a:r>
            <a:endParaRPr lang="en-US" sz="2800"/>
          </a:p>
        </p:txBody>
      </p:sp>
      <p:sp>
        <p:nvSpPr>
          <p:cNvPr id="415742439" name="Text 14"/>
          <p:cNvSpPr txBox="1"/>
          <p:nvPr/>
        </p:nvSpPr>
        <p:spPr bwMode="auto">
          <a:xfrm>
            <a:off x="5577840" y="2980944"/>
            <a:ext cx="30175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video demo giữ riêng, loại cả nhóm khỏi tập học</a:t>
            </a:r>
            <a:endParaRPr lang="en-US" sz="1400"/>
          </a:p>
        </p:txBody>
      </p:sp>
      <p:sp>
        <p:nvSpPr>
          <p:cNvPr id="945748529" name="Leakage banner"/>
          <p:cNvSpPr/>
          <p:nvPr/>
        </p:nvSpPr>
        <p:spPr bwMode="auto">
          <a:xfrm>
            <a:off x="4114800" y="3931920"/>
            <a:ext cx="45720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1849652709" name="Text 16"/>
          <p:cNvSpPr txBox="1"/>
          <p:nvPr/>
        </p:nvSpPr>
        <p:spPr bwMode="auto">
          <a:xfrm>
            <a:off x="4251960" y="3931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Video gốc và mọi bản Fake của nó luôn cùng một phía, nên không rò rỉ dữ liệu.</a:t>
            </a:r>
            <a:endParaRPr lang="en-US" sz="1400"/>
          </a:p>
        </p:txBody>
      </p:sp>
      <p:sp>
        <p:nvSpPr>
          <p:cNvPr id="174967187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679815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Hai cách nhận diện video</a:t>
            </a:r>
            <a:endParaRPr lang="en-US" sz="3000"/>
          </a:p>
        </p:txBody>
      </p:sp>
      <p:sp>
        <p:nvSpPr>
          <p:cNvPr id="1602819742" name="Text 1"/>
          <p:cNvSpPr txBox="1"/>
          <p:nvPr/>
        </p:nvSpPr>
        <p:spPr bwMode="auto">
          <a:xfrm>
            <a:off x="457200" y="1188720"/>
            <a:ext cx="25603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Lấy 16 khung hình rải đều</a:t>
            </a:r>
            <a:endParaRPr lang="en-US" sz="1500"/>
          </a:p>
        </p:txBody>
      </p:sp>
      <p:sp>
        <p:nvSpPr>
          <p:cNvPr id="543890907" name="Arrow 1"/>
          <p:cNvSpPr/>
          <p:nvPr/>
        </p:nvSpPr>
        <p:spPr bwMode="auto">
          <a:xfrm>
            <a:off x="3063240" y="1371600"/>
            <a:ext cx="201168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1541090170" name="Text 3"/>
          <p:cNvSpPr txBox="1"/>
          <p:nvPr/>
        </p:nvSpPr>
        <p:spPr bwMode="auto">
          <a:xfrm>
            <a:off x="3291840" y="1188720"/>
            <a:ext cx="25603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Dò và cắt mặt (Haar)</a:t>
            </a:r>
            <a:endParaRPr lang="en-US" sz="1500"/>
          </a:p>
        </p:txBody>
      </p:sp>
      <p:sp>
        <p:nvSpPr>
          <p:cNvPr id="1057315314" name="Arrow 2"/>
          <p:cNvSpPr/>
          <p:nvPr/>
        </p:nvSpPr>
        <p:spPr bwMode="auto">
          <a:xfrm>
            <a:off x="5897880" y="1371600"/>
            <a:ext cx="201168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1672379682" name="Text 5"/>
          <p:cNvSpPr txBox="1"/>
          <p:nvPr/>
        </p:nvSpPr>
        <p:spPr bwMode="auto">
          <a:xfrm>
            <a:off x="6126480" y="1188720"/>
            <a:ext cx="25603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Kiểm tra chất lượng mặt</a:t>
            </a:r>
            <a:endParaRPr lang="en-US" sz="1500"/>
          </a:p>
        </p:txBody>
      </p:sp>
      <p:sp>
        <p:nvSpPr>
          <p:cNvPr id="140520830" name="Down arrow A"/>
          <p:cNvSpPr/>
          <p:nvPr/>
        </p:nvSpPr>
        <p:spPr bwMode="auto">
          <a:xfrm>
            <a:off x="2331720" y="1920240"/>
            <a:ext cx="274320" cy="320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1055350162" name="Down arrow B"/>
          <p:cNvSpPr/>
          <p:nvPr/>
        </p:nvSpPr>
        <p:spPr bwMode="auto">
          <a:xfrm>
            <a:off x="6537960" y="1920240"/>
            <a:ext cx="274320" cy="320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1482693824" name="Method CÁCH A"/>
          <p:cNvSpPr/>
          <p:nvPr/>
        </p:nvSpPr>
        <p:spPr bwMode="auto">
          <a:xfrm>
            <a:off x="457200" y="2331720"/>
            <a:ext cx="40233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380383566" name="Text 9"/>
          <p:cNvSpPr txBox="1"/>
          <p:nvPr/>
        </p:nvSpPr>
        <p:spPr bwMode="auto">
          <a:xfrm>
            <a:off x="640080" y="246888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CÁCH A</a:t>
            </a:r>
            <a:endParaRPr lang="en-US" sz="1200"/>
          </a:p>
        </p:txBody>
      </p:sp>
      <p:sp>
        <p:nvSpPr>
          <p:cNvPr id="1841728643" name="Text 10"/>
          <p:cNvSpPr txBox="1"/>
          <p:nvPr/>
        </p:nvSpPr>
        <p:spPr bwMode="auto">
          <a:xfrm>
            <a:off x="1783080" y="2441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Dùng thẳng model ảnh</a:t>
            </a:r>
            <a:endParaRPr lang="en-US" sz="1700"/>
          </a:p>
        </p:txBody>
      </p:sp>
      <p:sp>
        <p:nvSpPr>
          <p:cNvPr id="115778358" name="Text 11"/>
          <p:cNvSpPr txBox="1"/>
          <p:nvPr/>
        </p:nvSpPr>
        <p:spPr bwMode="auto">
          <a:xfrm>
            <a:off x="640080" y="2971800"/>
            <a:ext cx="365760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tx1"/>
                </a:solidFill>
              </a:rPr>
              <a:t>best_model.pkl (SVM RBF), không train thêm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tx1"/>
                </a:solidFill>
              </a:rPr>
              <a:t>P(Fake) cho từng khung hình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tx1"/>
                </a:solidFill>
              </a:rPr>
              <a:t>Kết luận bằng trung bình xác suất hoặc bỏ phiếu</a:t>
            </a:r>
            <a:endParaRPr lang="en-US" sz="1400"/>
          </a:p>
        </p:txBody>
      </p:sp>
      <p:sp>
        <p:nvSpPr>
          <p:cNvPr id="27135546" name="Method CÁCH B"/>
          <p:cNvSpPr/>
          <p:nvPr/>
        </p:nvSpPr>
        <p:spPr bwMode="auto">
          <a:xfrm>
            <a:off x="4663440" y="2331720"/>
            <a:ext cx="40233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079861169" name="Text 13"/>
          <p:cNvSpPr txBox="1"/>
          <p:nvPr/>
        </p:nvSpPr>
        <p:spPr bwMode="auto">
          <a:xfrm>
            <a:off x="4846320" y="2468880"/>
            <a:ext cx="100584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CÁCH B</a:t>
            </a:r>
            <a:endParaRPr lang="en-US" sz="1200"/>
          </a:p>
        </p:txBody>
      </p:sp>
      <p:sp>
        <p:nvSpPr>
          <p:cNvPr id="1724460199" name="Text 14"/>
          <p:cNvSpPr txBox="1"/>
          <p:nvPr/>
        </p:nvSpPr>
        <p:spPr bwMode="auto">
          <a:xfrm>
            <a:off x="5989320" y="2441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Train model mức video</a:t>
            </a:r>
            <a:endParaRPr lang="en-US" sz="1700"/>
          </a:p>
        </p:txBody>
      </p:sp>
      <p:sp>
        <p:nvSpPr>
          <p:cNvPr id="588801926" name="Text 15"/>
          <p:cNvSpPr txBox="1"/>
          <p:nvPr/>
        </p:nvSpPr>
        <p:spPr bwMode="auto">
          <a:xfrm>
            <a:off x="4846320" y="2971800"/>
            <a:ext cx="365760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tx1"/>
                </a:solidFill>
              </a:rPr>
              <a:t>Gộp các khung thành 1 vector 151 đặc trưng/video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tx1"/>
                </a:solidFill>
              </a:rPr>
              <a:t>Train 7 thuật toán ML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tx1"/>
                </a:solidFill>
              </a:rPr>
              <a:t>Chia train/test theo video gốc</a:t>
            </a:r>
            <a:endParaRPr lang="en-US" sz="1400"/>
          </a:p>
        </p:txBody>
      </p:sp>
      <p:sp>
        <p:nvSpPr>
          <p:cNvPr id="43128586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379320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Chất lượng khuôn mặt trong video</a:t>
            </a:r>
            <a:endParaRPr lang="en-US" sz="3000"/>
          </a:p>
        </p:txBody>
      </p:sp>
      <p:graphicFrame>
        <p:nvGraphicFramePr>
          <p:cNvPr id="735956749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2834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41563173" name="Text 1"/>
          <p:cNvSpPr txBox="1"/>
          <p:nvPr/>
        </p:nvSpPr>
        <p:spPr bwMode="auto">
          <a:xfrm>
            <a:off x="132588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2,232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300">
                <a:solidFill>
                  <a:schemeClr val="tx2"/>
                </a:solidFill>
              </a:rPr>
              <a:t>video</a:t>
            </a:r>
            <a:endParaRPr lang="en-US" sz="1400"/>
          </a:p>
        </p:txBody>
      </p:sp>
      <p:sp>
        <p:nvSpPr>
          <p:cNvPr id="512007575" name="Legend card 1"/>
          <p:cNvSpPr/>
          <p:nvPr/>
        </p:nvSpPr>
        <p:spPr bwMode="auto">
          <a:xfrm>
            <a:off x="3474720" y="128016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05267704" name="Legend dot 1"/>
          <p:cNvSpPr/>
          <p:nvPr/>
        </p:nvSpPr>
        <p:spPr bwMode="auto">
          <a:xfrm>
            <a:off x="3611880" y="1545336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07761920" name="Text 4"/>
          <p:cNvSpPr txBox="1"/>
          <p:nvPr/>
        </p:nvSpPr>
        <p:spPr bwMode="auto">
          <a:xfrm>
            <a:off x="3931920" y="1316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OK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1,205 (54%)</a:t>
            </a:r>
            <a:endParaRPr lang="en-US" sz="1400"/>
          </a:p>
        </p:txBody>
      </p:sp>
      <p:sp>
        <p:nvSpPr>
          <p:cNvPr id="750041625" name="Legend card 2"/>
          <p:cNvSpPr/>
          <p:nvPr/>
        </p:nvSpPr>
        <p:spPr bwMode="auto">
          <a:xfrm>
            <a:off x="3474720" y="214884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920684338" name="Legend dot 2"/>
          <p:cNvSpPr/>
          <p:nvPr/>
        </p:nvSpPr>
        <p:spPr bwMode="auto">
          <a:xfrm>
            <a:off x="3611880" y="2414016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91755601" name="Text 7"/>
          <p:cNvSpPr txBox="1"/>
          <p:nvPr/>
        </p:nvSpPr>
        <p:spPr bwMode="auto">
          <a:xfrm>
            <a:off x="3931920" y="21854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Chất lượng thấp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833 (37%)</a:t>
            </a:r>
            <a:endParaRPr lang="en-US" sz="1400"/>
          </a:p>
        </p:txBody>
      </p:sp>
      <p:sp>
        <p:nvSpPr>
          <p:cNvPr id="436788295" name="Legend card 3"/>
          <p:cNvSpPr/>
          <p:nvPr/>
        </p:nvSpPr>
        <p:spPr bwMode="auto">
          <a:xfrm>
            <a:off x="3474720" y="3017519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992422764" name="Legend dot 3"/>
          <p:cNvSpPr/>
          <p:nvPr/>
        </p:nvSpPr>
        <p:spPr bwMode="auto">
          <a:xfrm>
            <a:off x="3611880" y="328269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03922425" name="Text 10"/>
          <p:cNvSpPr txBox="1"/>
          <p:nvPr/>
        </p:nvSpPr>
        <p:spPr bwMode="auto">
          <a:xfrm>
            <a:off x="3931920" y="30540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Không thấy mặt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2"/>
                </a:solidFill>
              </a:rPr>
              <a:t>194 (9%)</a:t>
            </a:r>
            <a:endParaRPr lang="en-US" sz="1400"/>
          </a:p>
        </p:txBody>
      </p:sp>
      <p:sp>
        <p:nvSpPr>
          <p:cNvPr id="67769039" name="Threshold card"/>
          <p:cNvSpPr/>
          <p:nvPr/>
        </p:nvSpPr>
        <p:spPr bwMode="auto">
          <a:xfrm>
            <a:off x="6309360" y="1280160"/>
            <a:ext cx="2377440" cy="24231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766266581" name="Text 12"/>
          <p:cNvSpPr txBox="1"/>
          <p:nvPr/>
        </p:nvSpPr>
        <p:spPr bwMode="auto">
          <a:xfrm>
            <a:off x="64922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Ngưỡng chất lượng</a:t>
            </a:r>
            <a:endParaRPr lang="en-US" sz="1500"/>
          </a:p>
        </p:txBody>
      </p:sp>
      <p:sp>
        <p:nvSpPr>
          <p:cNvPr id="2008992466" name="Text 13"/>
          <p:cNvSpPr txBox="1"/>
          <p:nvPr/>
        </p:nvSpPr>
        <p:spPr bwMode="auto">
          <a:xfrm>
            <a:off x="6492240" y="1783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Cạnh mặt ≥ 56 px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Độ mờ (Laplacian) ≥ 25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≥ 3 khung đạt chuẩn</a:t>
            </a:r>
            <a:endParaRPr lang="en-US" sz="1400"/>
          </a:p>
        </p:txBody>
      </p:sp>
      <p:sp>
        <p:nvSpPr>
          <p:cNvPr id="1402597859" name="Text 14"/>
          <p:cNvSpPr txBox="1"/>
          <p:nvPr/>
        </p:nvSpPr>
        <p:spPr bwMode="auto">
          <a:xfrm>
            <a:off x="649224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2"/>
                </a:solidFill>
              </a:rPr>
              <a:t>46% video bị loại khỏi tập học</a:t>
            </a:r>
            <a:endParaRPr lang="en-US" sz="1400"/>
          </a:p>
        </p:txBody>
      </p:sp>
      <p:sp>
        <p:nvSpPr>
          <p:cNvPr id="838765305" name="Vector banner"/>
          <p:cNvSpPr/>
          <p:nvPr/>
        </p:nvSpPr>
        <p:spPr bwMode="auto"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77791479" name="Text 16"/>
          <p:cNvSpPr txBox="1"/>
          <p:nvPr/>
        </p:nvSpPr>
        <p:spPr bwMode="auto"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Vector Cách B: 140 texture/tần số + 6 xác suất + 5 thời gian = 151 đặc trưng mỗi video</a:t>
            </a:r>
            <a:endParaRPr lang="en-US" sz="1600"/>
          </a:p>
        </p:txBody>
      </p:sp>
      <p:sp>
        <p:nvSpPr>
          <p:cNvPr id="156951587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913528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So sánh Cách A và Cách B</a:t>
            </a:r>
            <a:endParaRPr lang="en-US" sz="3000"/>
          </a:p>
        </p:txBody>
      </p:sp>
      <p:graphicFrame>
        <p:nvGraphicFramePr>
          <p:cNvPr id="2020200710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55778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37603534" name="B best card"/>
          <p:cNvSpPr/>
          <p:nvPr/>
        </p:nvSpPr>
        <p:spPr bwMode="auto">
          <a:xfrm>
            <a:off x="6309360" y="1188720"/>
            <a:ext cx="2377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17904500" name="Text 2"/>
          <p:cNvSpPr txBox="1"/>
          <p:nvPr/>
        </p:nvSpPr>
        <p:spPr bwMode="auto">
          <a:xfrm>
            <a:off x="6492240" y="1280160"/>
            <a:ext cx="210312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Cách B tốt nhất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Random Forest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Acc 0.881 · AUC 0.857</a:t>
            </a:r>
            <a:endParaRPr lang="en-US" sz="1400"/>
          </a:p>
        </p:txBody>
      </p:sp>
      <p:sp>
        <p:nvSpPr>
          <p:cNvPr id="356059159" name="A fail card"/>
          <p:cNvSpPr/>
          <p:nvPr/>
        </p:nvSpPr>
        <p:spPr bwMode="auto">
          <a:xfrm>
            <a:off x="6309360" y="3017519"/>
            <a:ext cx="2377440" cy="1554480"/>
          </a:xfrm>
          <a:prstGeom prst="roundRect">
            <a:avLst>
              <a:gd name="adj" fmla="val 7059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154595784" name="Text 4"/>
          <p:cNvSpPr txBox="1"/>
          <p:nvPr/>
        </p:nvSpPr>
        <p:spPr bwMode="auto">
          <a:xfrm>
            <a:off x="6492240" y="30632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2"/>
                </a:solidFill>
              </a:rPr>
              <a:t>Cách A thất bại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AUC 0.464 &lt; 0.5, kém hơn đoán ngẫu nhiên (domain gap).</a:t>
            </a:r>
            <a:endParaRPr lang="en-US" sz="1400"/>
          </a:p>
        </p:txBody>
      </p:sp>
      <p:sp>
        <p:nvSpPr>
          <p:cNvPr id="79155649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350225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Demo 5 video và bài học</a:t>
            </a:r>
            <a:endParaRPr lang="en-US" sz="3000"/>
          </a:p>
        </p:txBody>
      </p:sp>
      <p:graphicFrame>
        <p:nvGraphicFramePr>
          <p:cNvPr id="163716009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188720"/>
          <a:ext cx="50292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34440"/>
                <a:gridCol w="777240"/>
                <a:gridCol w="1508759"/>
                <a:gridCol w="1508759"/>
              </a:tblGrid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Video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Đáp án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Cách A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Cách B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cbkppzjtqf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Real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E9E6B"/>
                          </a:solidFill>
                        </a:rPr>
                        <a:t>Real ✓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E4572E"/>
                          </a:solidFill>
                        </a:rPr>
                        <a:t>Fake ✗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cwaoshhenk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Real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E4572E"/>
                          </a:solidFill>
                        </a:rPr>
                        <a:t>Fake ✗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E9E6B"/>
                          </a:solidFill>
                        </a:rPr>
                        <a:t>Real ✓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tqhthygumd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Fake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4A5B68"/>
                          </a:solidFill>
                        </a:rPr>
                        <a:t>Chất lượng thấp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4A5B68"/>
                          </a:solidFill>
                        </a:rPr>
                        <a:t>Chất lượng thấp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gyeaqcnxhx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Fake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4A5B68"/>
                          </a:solidFill>
                        </a:rPr>
                        <a:t>Không thấy mặt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4A5B68"/>
                          </a:solidFill>
                        </a:rPr>
                        <a:t>Không thấy mặt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mfsoyljskv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F2A37"/>
                          </a:solidFill>
                        </a:rPr>
                        <a:t>Fake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E4572E"/>
                          </a:solidFill>
                        </a:rPr>
                        <a:t>Real ✗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E9E6B"/>
                          </a:solidFill>
                        </a:rPr>
                        <a:t>Fake ✓</a:t>
                      </a:r>
                      <a:endParaRPr lang="en-US" sz="13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32082862" name="Text 1"/>
          <p:cNvSpPr txBox="1"/>
          <p:nvPr/>
        </p:nvSpPr>
        <p:spPr bwMode="auto">
          <a:xfrm>
            <a:off x="457200" y="4069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/>
                </a:solidFill>
              </a:rPr>
              <a:t>5 video demo nằm ngoài tập học. Video không đạt chất lượng mặt thì không đưa ra kết luận.</a:t>
            </a:r>
            <a:endParaRPr lang="en-US" sz="1200"/>
          </a:p>
        </p:txBody>
      </p:sp>
      <p:sp>
        <p:nvSpPr>
          <p:cNvPr id="736648329" name="Lesson 1"/>
          <p:cNvSpPr/>
          <p:nvPr/>
        </p:nvSpPr>
        <p:spPr bwMode="auto">
          <a:xfrm>
            <a:off x="5760720" y="118872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37011251" name="Icon circle warn"/>
          <p:cNvSpPr/>
          <p:nvPr/>
        </p:nvSpPr>
        <p:spPr bwMode="auto">
          <a:xfrm>
            <a:off x="589788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95778530" name="Image 0" descr="warn ic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12180" y="1577340"/>
            <a:ext cx="228600" cy="228600"/>
          </a:xfrm>
          <a:prstGeom prst="rect">
            <a:avLst/>
          </a:prstGeom>
        </p:spPr>
      </p:pic>
      <p:sp>
        <p:nvSpPr>
          <p:cNvPr id="1993053693" name="Text 4"/>
          <p:cNvSpPr txBox="1"/>
          <p:nvPr/>
        </p:nvSpPr>
        <p:spPr bwMode="auto">
          <a:xfrm>
            <a:off x="6492240" y="1234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Domain gap: model ảnh không khái quát sang video bị nén.</a:t>
            </a:r>
            <a:endParaRPr lang="en-US" sz="1300"/>
          </a:p>
        </p:txBody>
      </p:sp>
      <p:sp>
        <p:nvSpPr>
          <p:cNvPr id="1217196689" name="Lesson 2"/>
          <p:cNvSpPr/>
          <p:nvPr/>
        </p:nvSpPr>
        <p:spPr bwMode="auto">
          <a:xfrm>
            <a:off x="5760720" y="233172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08882630" name="Icon circle balance"/>
          <p:cNvSpPr/>
          <p:nvPr/>
        </p:nvSpPr>
        <p:spPr bwMode="auto">
          <a:xfrm>
            <a:off x="589788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45365750" name="Image 1" descr="balance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12180" y="2720340"/>
            <a:ext cx="228600" cy="228600"/>
          </a:xfrm>
          <a:prstGeom prst="rect">
            <a:avLst/>
          </a:prstGeom>
        </p:spPr>
      </p:pic>
      <p:sp>
        <p:nvSpPr>
          <p:cNvPr id="197677234" name="Text 7"/>
          <p:cNvSpPr txBox="1"/>
          <p:nvPr/>
        </p:nvSpPr>
        <p:spPr bwMode="auto">
          <a:xfrm>
            <a:off x="649224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Lệch lớp: xem macro-F1, balanced accuracy, AUC thay vì accuracy.</a:t>
            </a:r>
            <a:endParaRPr lang="en-US" sz="1300"/>
          </a:p>
        </p:txBody>
      </p:sp>
      <p:sp>
        <p:nvSpPr>
          <p:cNvPr id="310985670" name="Lesson 3"/>
          <p:cNvSpPr/>
          <p:nvPr/>
        </p:nvSpPr>
        <p:spPr bwMode="auto">
          <a:xfrm>
            <a:off x="5760720" y="347472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095713747" name="Icon circle crop"/>
          <p:cNvSpPr/>
          <p:nvPr/>
        </p:nvSpPr>
        <p:spPr bwMode="auto">
          <a:xfrm>
            <a:off x="5897880" y="37490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38920022" name="Image 2" descr="crop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12180" y="3863340"/>
            <a:ext cx="228600" cy="228600"/>
          </a:xfrm>
          <a:prstGeom prst="rect">
            <a:avLst/>
          </a:prstGeom>
        </p:spPr>
      </p:pic>
      <p:sp>
        <p:nvSpPr>
          <p:cNvPr id="1693705640" name="Text 10"/>
          <p:cNvSpPr txBox="1"/>
          <p:nvPr/>
        </p:nvSpPr>
        <p:spPr bwMode="auto">
          <a:xfrm>
            <a:off x="649224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Haar Cascade có thể cắt sai mặt, ảnh hưởng cả hai cách.</a:t>
            </a:r>
            <a:endParaRPr lang="en-US" sz="1300"/>
          </a:p>
        </p:txBody>
      </p:sp>
      <p:sp>
        <p:nvSpPr>
          <p:cNvPr id="58084622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518610" name="Text 0"/>
          <p:cNvSpPr txBox="1"/>
          <p:nvPr/>
        </p:nvSpPr>
        <p:spPr bwMode="auto">
          <a:xfrm>
            <a:off x="731520" y="8229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8000"/>
          </a:p>
        </p:txBody>
      </p:sp>
      <p:sp>
        <p:nvSpPr>
          <p:cNvPr id="1824947913" name="Text 1"/>
          <p:cNvSpPr/>
          <p:nvPr>
            <p:ph type="title" idx="101" hasCustomPrompt="1"/>
          </p:nvPr>
        </p:nvSpPr>
        <p:spPr bwMode="auto">
          <a:xfrm>
            <a:off x="731520" y="2148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chemeClr val="tx1"/>
                </a:solidFill>
              </a:rPr>
              <a:t>Deep Learning trên video</a:t>
            </a:r>
            <a:endParaRPr lang="en-US" sz="3800"/>
          </a:p>
        </p:txBody>
      </p:sp>
      <p:sp>
        <p:nvSpPr>
          <p:cNvPr id="1723810601" name="Text 1"/>
          <p:cNvSpPr/>
          <p:nvPr>
            <p:ph type="body" idx="102" hasCustomPrompt="1"/>
          </p:nvPr>
        </p:nvSpPr>
        <p:spPr bwMode="auto">
          <a:xfrm>
            <a:off x="731520" y="3017519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chemeClr val="tx2"/>
                </a:solidFill>
              </a:rPr>
              <a:t>Fine-tune EfficientNet-B0 trực tiếp trên khung mặt của video DFDC</a:t>
            </a:r>
            <a:endParaRPr lang="en-US" sz="1800"/>
          </a:p>
        </p:txBody>
      </p:sp>
      <p:pic>
        <p:nvPicPr>
          <p:cNvPr id="3494853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32323" y="788817"/>
            <a:ext cx="1467434" cy="1222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94323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Pipeline Deep Learning</a:t>
            </a:r>
            <a:endParaRPr lang="en-US" sz="3000"/>
          </a:p>
        </p:txBody>
      </p:sp>
      <p:sp>
        <p:nvSpPr>
          <p:cNvPr id="1983274747" name="Text 1"/>
          <p:cNvSpPr txBox="1"/>
          <p:nvPr/>
        </p:nvSpPr>
        <p:spPr bwMode="auto">
          <a:xfrm>
            <a:off x="457200" y="118872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2,000 video DFDC part 15</a:t>
            </a:r>
            <a:endParaRPr lang="en-US" sz="1300"/>
          </a:p>
        </p:txBody>
      </p:sp>
      <p:sp>
        <p:nvSpPr>
          <p:cNvPr id="403465810" name="Flow arrow 1"/>
          <p:cNvSpPr/>
          <p:nvPr/>
        </p:nvSpPr>
        <p:spPr bwMode="auto">
          <a:xfrm>
            <a:off x="1865376" y="1527048"/>
            <a:ext cx="256032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531285968" name="Text 3"/>
          <p:cNvSpPr txBox="1"/>
          <p:nvPr/>
        </p:nvSpPr>
        <p:spPr bwMode="auto">
          <a:xfrm>
            <a:off x="2171700" y="118872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16 khung hình mỗi video</a:t>
            </a:r>
            <a:endParaRPr lang="en-US" sz="1300"/>
          </a:p>
        </p:txBody>
      </p:sp>
      <p:sp>
        <p:nvSpPr>
          <p:cNvPr id="1237156253" name="Flow arrow 2"/>
          <p:cNvSpPr/>
          <p:nvPr/>
        </p:nvSpPr>
        <p:spPr bwMode="auto">
          <a:xfrm>
            <a:off x="3579876" y="1527048"/>
            <a:ext cx="256032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1321632635" name="Text 5"/>
          <p:cNvSpPr txBox="1"/>
          <p:nvPr/>
        </p:nvSpPr>
        <p:spPr bwMode="auto">
          <a:xfrm>
            <a:off x="3886200" y="118872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Cắt mặt 224×224</a:t>
            </a:r>
            <a:endParaRPr lang="en-US" sz="1300"/>
          </a:p>
        </p:txBody>
      </p:sp>
      <p:sp>
        <p:nvSpPr>
          <p:cNvPr id="1985676874" name="Flow arrow 3"/>
          <p:cNvSpPr/>
          <p:nvPr/>
        </p:nvSpPr>
        <p:spPr bwMode="auto">
          <a:xfrm>
            <a:off x="5294376" y="1527048"/>
            <a:ext cx="256032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1817190601" name="Text 7"/>
          <p:cNvSpPr txBox="1"/>
          <p:nvPr/>
        </p:nvSpPr>
        <p:spPr bwMode="auto">
          <a:xfrm>
            <a:off x="5600700" y="118872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EfficientNet-B0 fine-tune</a:t>
            </a:r>
            <a:endParaRPr lang="en-US" sz="1300"/>
          </a:p>
        </p:txBody>
      </p:sp>
      <p:sp>
        <p:nvSpPr>
          <p:cNvPr id="84179454" name="Flow arrow 4"/>
          <p:cNvSpPr/>
          <p:nvPr/>
        </p:nvSpPr>
        <p:spPr bwMode="auto">
          <a:xfrm>
            <a:off x="7008876" y="1527048"/>
            <a:ext cx="256032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/>
        </p:spPr>
      </p:sp>
      <p:sp>
        <p:nvSpPr>
          <p:cNvPr id="245609179" name="Text 9"/>
          <p:cNvSpPr txBox="1"/>
          <p:nvPr/>
        </p:nvSpPr>
        <p:spPr bwMode="auto">
          <a:xfrm>
            <a:off x="7315200" y="118872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Trung bình xác suất, kết luận video</a:t>
            </a:r>
            <a:endParaRPr lang="en-US" sz="1300"/>
          </a:p>
        </p:txBody>
      </p:sp>
      <p:pic>
        <p:nvPicPr>
          <p:cNvPr id="233461796" name="Image 0" descr="Khung mặt Real (hàng trên) và Fake (hàng dưới) dùng để trai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377440"/>
            <a:ext cx="4937760" cy="1767535"/>
          </a:xfrm>
          <a:prstGeom prst="rect">
            <a:avLst/>
          </a:prstGeom>
        </p:spPr>
      </p:pic>
      <p:sp>
        <p:nvSpPr>
          <p:cNvPr id="1902703204" name="Text 10"/>
          <p:cNvSpPr txBox="1"/>
          <p:nvPr/>
        </p:nvSpPr>
        <p:spPr bwMode="auto">
          <a:xfrm>
            <a:off x="45720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/>
                </a:solidFill>
              </a:rPr>
              <a:t>Khung mặt dùng để train (hàng trên Real, hàng dưới Fake)</a:t>
            </a:r>
            <a:endParaRPr lang="en-US" sz="1100"/>
          </a:p>
        </p:txBody>
      </p:sp>
      <p:graphicFrame>
        <p:nvGraphicFramePr>
          <p:cNvPr id="174371122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669280" y="2377440"/>
          <a:ext cx="3017519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188720"/>
                <a:gridCol w="914400"/>
                <a:gridCol w="914400"/>
              </a:tblGrid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Số video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Real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Fake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Train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252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1,106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Val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54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261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Test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54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273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16264094" name="Frames stat"/>
          <p:cNvSpPr/>
          <p:nvPr/>
        </p:nvSpPr>
        <p:spPr bwMode="auto">
          <a:xfrm>
            <a:off x="5669280" y="4023360"/>
            <a:ext cx="3017519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97968810" name="Text 12"/>
          <p:cNvSpPr txBox="1"/>
          <p:nvPr/>
        </p:nvSpPr>
        <p:spPr bwMode="auto">
          <a:xfrm>
            <a:off x="5760720" y="4023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26,844 khung mặt từ 1,926 video</a:t>
            </a:r>
            <a:endParaRPr lang="en-US" sz="1400"/>
          </a:p>
        </p:txBody>
      </p:sp>
      <p:sp>
        <p:nvSpPr>
          <p:cNvPr id="123710881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999790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Cấu hình huấn luyện</a:t>
            </a:r>
            <a:endParaRPr lang="en-US" sz="3000"/>
          </a:p>
        </p:txBody>
      </p:sp>
      <p:sp>
        <p:nvSpPr>
          <p:cNvPr id="1840380495" name="Config Mô hình"/>
          <p:cNvSpPr/>
          <p:nvPr/>
        </p:nvSpPr>
        <p:spPr bwMode="auto">
          <a:xfrm>
            <a:off x="457200" y="118872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52921366" name="Icon circle cube"/>
          <p:cNvSpPr/>
          <p:nvPr/>
        </p:nvSpPr>
        <p:spPr bwMode="auto"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05010178" name="Image 0" descr="cube ic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4379" y="1467612"/>
            <a:ext cx="228600" cy="228600"/>
          </a:xfrm>
          <a:prstGeom prst="rect">
            <a:avLst/>
          </a:prstGeom>
        </p:spPr>
      </p:pic>
      <p:sp>
        <p:nvSpPr>
          <p:cNvPr id="1664220550" name="Text 3"/>
          <p:cNvSpPr txBox="1"/>
          <p:nvPr/>
        </p:nvSpPr>
        <p:spPr bwMode="auto">
          <a:xfrm>
            <a:off x="123444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Mô hình</a:t>
            </a:r>
            <a:endParaRPr lang="en-US" sz="1600"/>
          </a:p>
        </p:txBody>
      </p:sp>
      <p:sp>
        <p:nvSpPr>
          <p:cNvPr id="1490000208" name="Text 4"/>
          <p:cNvSpPr txBox="1"/>
          <p:nvPr/>
        </p:nvSpPr>
        <p:spPr bwMode="auto">
          <a:xfrm>
            <a:off x="640080" y="1938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EfficientNet-B0 pretrained, 4.01M tham số</a:t>
            </a:r>
            <a:endParaRPr lang="en-US" sz="1400"/>
          </a:p>
        </p:txBody>
      </p:sp>
      <p:sp>
        <p:nvSpPr>
          <p:cNvPr id="1635728189" name="Config Tối ưu"/>
          <p:cNvSpPr/>
          <p:nvPr/>
        </p:nvSpPr>
        <p:spPr bwMode="auto">
          <a:xfrm>
            <a:off x="3246120" y="118872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56550007" name="Icon circle sliders"/>
          <p:cNvSpPr/>
          <p:nvPr/>
        </p:nvSpPr>
        <p:spPr bwMode="auto">
          <a:xfrm>
            <a:off x="3429000" y="1353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78704161" name="Image 1" descr="sliders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43300" y="1467612"/>
            <a:ext cx="228600" cy="228600"/>
          </a:xfrm>
          <a:prstGeom prst="rect">
            <a:avLst/>
          </a:prstGeom>
        </p:spPr>
      </p:pic>
      <p:sp>
        <p:nvSpPr>
          <p:cNvPr id="1445914500" name="Text 7"/>
          <p:cNvSpPr txBox="1"/>
          <p:nvPr/>
        </p:nvSpPr>
        <p:spPr bwMode="auto">
          <a:xfrm>
            <a:off x="402336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Tối ưu</a:t>
            </a:r>
            <a:endParaRPr lang="en-US" sz="1600"/>
          </a:p>
        </p:txBody>
      </p:sp>
      <p:sp>
        <p:nvSpPr>
          <p:cNvPr id="1780956063" name="Text 8"/>
          <p:cNvSpPr txBox="1"/>
          <p:nvPr/>
        </p:nvSpPr>
        <p:spPr bwMode="auto">
          <a:xfrm>
            <a:off x="3429000" y="1938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AdamW, lr 3e-4, OneCycleLR</a:t>
            </a:r>
            <a:endParaRPr lang="en-US" sz="1400"/>
          </a:p>
        </p:txBody>
      </p:sp>
      <p:sp>
        <p:nvSpPr>
          <p:cNvPr id="1538709072" name="Config Hàm mất mát"/>
          <p:cNvSpPr/>
          <p:nvPr/>
        </p:nvSpPr>
        <p:spPr bwMode="auto">
          <a:xfrm>
            <a:off x="6035039" y="118872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41991038" name="Icon circle target"/>
          <p:cNvSpPr/>
          <p:nvPr/>
        </p:nvSpPr>
        <p:spPr bwMode="auto">
          <a:xfrm>
            <a:off x="6217920" y="1353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92708069" name="Image 2" descr="target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32220" y="1467612"/>
            <a:ext cx="228600" cy="228600"/>
          </a:xfrm>
          <a:prstGeom prst="rect">
            <a:avLst/>
          </a:prstGeom>
        </p:spPr>
      </p:pic>
      <p:sp>
        <p:nvSpPr>
          <p:cNvPr id="135266307" name="Text 11"/>
          <p:cNvSpPr txBox="1"/>
          <p:nvPr/>
        </p:nvSpPr>
        <p:spPr bwMode="auto">
          <a:xfrm>
            <a:off x="681228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Hàm mất mát</a:t>
            </a:r>
            <a:endParaRPr lang="en-US" sz="1600"/>
          </a:p>
        </p:txBody>
      </p:sp>
      <p:sp>
        <p:nvSpPr>
          <p:cNvPr id="509869495" name="Text 12"/>
          <p:cNvSpPr txBox="1"/>
          <p:nvPr/>
        </p:nvSpPr>
        <p:spPr bwMode="auto">
          <a:xfrm>
            <a:off x="6217920" y="1938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CrossEntropy kèm label smoothing 0.05</a:t>
            </a:r>
            <a:endParaRPr lang="en-US" sz="1400"/>
          </a:p>
        </p:txBody>
      </p:sp>
      <p:sp>
        <p:nvSpPr>
          <p:cNvPr id="135246467" name="Config Cân bằng lớp"/>
          <p:cNvSpPr/>
          <p:nvPr/>
        </p:nvSpPr>
        <p:spPr bwMode="auto">
          <a:xfrm>
            <a:off x="457200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93868698" name="Icon circle balance"/>
          <p:cNvSpPr/>
          <p:nvPr/>
        </p:nvSpPr>
        <p:spPr bwMode="auto">
          <a:xfrm>
            <a:off x="640080" y="2907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0718062" name="Image 3" descr="balance icon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54379" y="3022092"/>
            <a:ext cx="228600" cy="228600"/>
          </a:xfrm>
          <a:prstGeom prst="rect">
            <a:avLst/>
          </a:prstGeom>
        </p:spPr>
      </p:pic>
      <p:sp>
        <p:nvSpPr>
          <p:cNvPr id="565666727" name="Text 15"/>
          <p:cNvSpPr txBox="1"/>
          <p:nvPr/>
        </p:nvSpPr>
        <p:spPr bwMode="auto">
          <a:xfrm>
            <a:off x="1234440" y="29077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Cân bằng lớp</a:t>
            </a:r>
            <a:endParaRPr lang="en-US" sz="1600"/>
          </a:p>
        </p:txBody>
      </p:sp>
      <p:sp>
        <p:nvSpPr>
          <p:cNvPr id="277315690" name="Text 16"/>
          <p:cNvSpPr txBox="1"/>
          <p:nvPr/>
        </p:nvSpPr>
        <p:spPr bwMode="auto">
          <a:xfrm>
            <a:off x="640080" y="3493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WeightedRandomSampler ở mức khung hình</a:t>
            </a:r>
            <a:endParaRPr lang="en-US" sz="1400"/>
          </a:p>
        </p:txBody>
      </p:sp>
      <p:sp>
        <p:nvSpPr>
          <p:cNvPr id="1325652767" name="Config Augmentation"/>
          <p:cNvSpPr/>
          <p:nvPr/>
        </p:nvSpPr>
        <p:spPr bwMode="auto">
          <a:xfrm>
            <a:off x="3246120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643573907" name="Icon circle magic"/>
          <p:cNvSpPr/>
          <p:nvPr/>
        </p:nvSpPr>
        <p:spPr bwMode="auto">
          <a:xfrm>
            <a:off x="3429000" y="2907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18744567" name="Image 4" descr="magic icon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543300" y="3022092"/>
            <a:ext cx="228600" cy="228600"/>
          </a:xfrm>
          <a:prstGeom prst="rect">
            <a:avLst/>
          </a:prstGeom>
        </p:spPr>
      </p:pic>
      <p:sp>
        <p:nvSpPr>
          <p:cNvPr id="1316273668" name="Text 19"/>
          <p:cNvSpPr txBox="1"/>
          <p:nvPr/>
        </p:nvSpPr>
        <p:spPr bwMode="auto">
          <a:xfrm>
            <a:off x="4023360" y="29077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Augmentation</a:t>
            </a:r>
            <a:endParaRPr lang="en-US" sz="1600"/>
          </a:p>
        </p:txBody>
      </p:sp>
      <p:sp>
        <p:nvSpPr>
          <p:cNvPr id="297052592" name="Text 20"/>
          <p:cNvSpPr txBox="1"/>
          <p:nvPr/>
        </p:nvSpPr>
        <p:spPr bwMode="auto">
          <a:xfrm>
            <a:off x="3429000" y="3493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Lật, zoom/dịch, sáng/tương phản, chạy trên GPU</a:t>
            </a:r>
            <a:endParaRPr lang="en-US" sz="1400"/>
          </a:p>
        </p:txBody>
      </p:sp>
      <p:sp>
        <p:nvSpPr>
          <p:cNvPr id="514948734" name="Config Phần cứng"/>
          <p:cNvSpPr/>
          <p:nvPr/>
        </p:nvSpPr>
        <p:spPr bwMode="auto">
          <a:xfrm>
            <a:off x="6035039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22647135" name="Icon circle chip"/>
          <p:cNvSpPr/>
          <p:nvPr/>
        </p:nvSpPr>
        <p:spPr bwMode="auto">
          <a:xfrm>
            <a:off x="6217920" y="2907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31251070" name="Image 5" descr="chip icon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332220" y="3022092"/>
            <a:ext cx="228600" cy="228600"/>
          </a:xfrm>
          <a:prstGeom prst="rect">
            <a:avLst/>
          </a:prstGeom>
        </p:spPr>
      </p:pic>
      <p:sp>
        <p:nvSpPr>
          <p:cNvPr id="927181416" name="Text 23"/>
          <p:cNvSpPr txBox="1"/>
          <p:nvPr/>
        </p:nvSpPr>
        <p:spPr bwMode="auto">
          <a:xfrm>
            <a:off x="6812280" y="29077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Phần cứng</a:t>
            </a:r>
            <a:endParaRPr lang="en-US" sz="1600"/>
          </a:p>
        </p:txBody>
      </p:sp>
      <p:sp>
        <p:nvSpPr>
          <p:cNvPr id="826425322" name="Text 24"/>
          <p:cNvSpPr txBox="1"/>
          <p:nvPr/>
        </p:nvSpPr>
        <p:spPr bwMode="auto">
          <a:xfrm>
            <a:off x="6217920" y="3493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Tesla T4, AMP, batch 64, 8 epoch (~53 giây/epoch)</a:t>
            </a:r>
            <a:endParaRPr lang="en-US" sz="1400"/>
          </a:p>
        </p:txBody>
      </p:sp>
      <p:sp>
        <p:nvSpPr>
          <p:cNvPr id="796544521" name="Text 25"/>
          <p:cNvSpPr txBox="1"/>
          <p:nvPr/>
        </p:nvSpPr>
        <p:spPr bwMode="auto"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/>
                </a:solidFill>
              </a:rPr>
              <a:t>Chọn epoch theo log-loss video trên tập val. Tập test chỉ đánh giá một lần.</a:t>
            </a:r>
            <a:endParaRPr lang="en-US" sz="1200"/>
          </a:p>
        </p:txBody>
      </p:sp>
      <p:sp>
        <p:nvSpPr>
          <p:cNvPr id="109890709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021248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Quá trình huấn luyện</a:t>
            </a:r>
            <a:endParaRPr lang="en-US" sz="3000"/>
          </a:p>
        </p:txBody>
      </p:sp>
      <p:graphicFrame>
        <p:nvGraphicFramePr>
          <p:cNvPr id="2049633221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143000"/>
          <a:ext cx="55778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4305561" name="Train stat 1"/>
          <p:cNvSpPr/>
          <p:nvPr/>
        </p:nvSpPr>
        <p:spPr bwMode="auto">
          <a:xfrm>
            <a:off x="6309360" y="1188720"/>
            <a:ext cx="2377440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726221785" name="Text 2"/>
          <p:cNvSpPr txBox="1"/>
          <p:nvPr/>
        </p:nvSpPr>
        <p:spPr bwMode="auto">
          <a:xfrm>
            <a:off x="6446520" y="1234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99.0%</a:t>
            </a:r>
            <a:endParaRPr lang="en-US" sz="2600"/>
          </a:p>
        </p:txBody>
      </p:sp>
      <p:sp>
        <p:nvSpPr>
          <p:cNvPr id="1543605867" name="Text 3"/>
          <p:cNvSpPr txBox="1"/>
          <p:nvPr/>
        </p:nvSpPr>
        <p:spPr bwMode="auto">
          <a:xfrm>
            <a:off x="6446520" y="1755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Accuracy video trên val (epoch 8)</a:t>
            </a:r>
            <a:endParaRPr lang="en-US" sz="1300"/>
          </a:p>
        </p:txBody>
      </p:sp>
      <p:sp>
        <p:nvSpPr>
          <p:cNvPr id="1125935841" name="Train stat 2"/>
          <p:cNvSpPr/>
          <p:nvPr/>
        </p:nvSpPr>
        <p:spPr bwMode="auto">
          <a:xfrm>
            <a:off x="6309360" y="2359152"/>
            <a:ext cx="2377440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90327071" name="Text 5"/>
          <p:cNvSpPr txBox="1"/>
          <p:nvPr/>
        </p:nvSpPr>
        <p:spPr bwMode="auto">
          <a:xfrm>
            <a:off x="6446520" y="24048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0.0483</a:t>
            </a:r>
            <a:endParaRPr lang="en-US" sz="2600"/>
          </a:p>
        </p:txBody>
      </p:sp>
      <p:sp>
        <p:nvSpPr>
          <p:cNvPr id="586876086" name="Text 6"/>
          <p:cNvSpPr txBox="1"/>
          <p:nvPr/>
        </p:nvSpPr>
        <p:spPr bwMode="auto">
          <a:xfrm>
            <a:off x="644652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Log-loss val thấp nhất, epoch 8</a:t>
            </a:r>
            <a:endParaRPr lang="en-US" sz="1300"/>
          </a:p>
        </p:txBody>
      </p:sp>
      <p:sp>
        <p:nvSpPr>
          <p:cNvPr id="1890223997" name="Train stat 3"/>
          <p:cNvSpPr/>
          <p:nvPr/>
        </p:nvSpPr>
        <p:spPr bwMode="auto">
          <a:xfrm>
            <a:off x="6309360" y="3529584"/>
            <a:ext cx="2377440" cy="1042416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95650827" name="Text 8"/>
          <p:cNvSpPr txBox="1"/>
          <p:nvPr/>
        </p:nvSpPr>
        <p:spPr bwMode="auto">
          <a:xfrm>
            <a:off x="6446520" y="3575303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Epoch 2</a:t>
            </a:r>
            <a:endParaRPr lang="en-US" sz="2600"/>
          </a:p>
        </p:txBody>
      </p:sp>
      <p:sp>
        <p:nvSpPr>
          <p:cNvPr id="205846178" name="Text 9"/>
          <p:cNvSpPr txBox="1"/>
          <p:nvPr/>
        </p:nvSpPr>
        <p:spPr bwMode="auto">
          <a:xfrm>
            <a:off x="6446520" y="4096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val video acc đã đạt 97.8%</a:t>
            </a:r>
            <a:endParaRPr lang="en-US" sz="1300"/>
          </a:p>
        </p:txBody>
      </p:sp>
      <p:sp>
        <p:nvSpPr>
          <p:cNvPr id="143930932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623655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Kết quả trên tập test</a:t>
            </a:r>
            <a:endParaRPr lang="en-US" sz="3000"/>
          </a:p>
        </p:txBody>
      </p:sp>
      <p:sp>
        <p:nvSpPr>
          <p:cNvPr id="294953311" name="Text 1"/>
          <p:cNvSpPr txBox="1"/>
          <p:nvPr/>
        </p:nvSpPr>
        <p:spPr bwMode="auto">
          <a:xfrm>
            <a:off x="160020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2"/>
                </a:solidFill>
              </a:rPr>
              <a:t>Dự đoán</a:t>
            </a:r>
            <a:endParaRPr lang="en-US" sz="1300"/>
          </a:p>
        </p:txBody>
      </p:sp>
      <p:sp>
        <p:nvSpPr>
          <p:cNvPr id="1249370344" name="Text 2"/>
          <p:cNvSpPr txBox="1"/>
          <p:nvPr/>
        </p:nvSpPr>
        <p:spPr bwMode="auto">
          <a:xfrm>
            <a:off x="16002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Fake</a:t>
            </a:r>
            <a:endParaRPr lang="en-US" sz="1300"/>
          </a:p>
        </p:txBody>
      </p:sp>
      <p:sp>
        <p:nvSpPr>
          <p:cNvPr id="1644194572" name="Text 3"/>
          <p:cNvSpPr txBox="1"/>
          <p:nvPr/>
        </p:nvSpPr>
        <p:spPr bwMode="auto">
          <a:xfrm>
            <a:off x="306324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Real</a:t>
            </a:r>
            <a:endParaRPr lang="en-US" sz="1300"/>
          </a:p>
        </p:txBody>
      </p:sp>
      <p:sp>
        <p:nvSpPr>
          <p:cNvPr id="1113111021" name="Text 4"/>
          <p:cNvSpPr txBox="1"/>
          <p:nvPr/>
        </p:nvSpPr>
        <p:spPr bwMode="auto">
          <a:xfrm>
            <a:off x="45720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2"/>
                </a:solidFill>
              </a:rPr>
              <a:t>Thực tế</a:t>
            </a:r>
            <a:endParaRPr lang="en-US" sz="1300"/>
          </a:p>
        </p:txBody>
      </p:sp>
      <p:sp>
        <p:nvSpPr>
          <p:cNvPr id="1389876278" name="Text 5"/>
          <p:cNvSpPr txBox="1"/>
          <p:nvPr/>
        </p:nvSpPr>
        <p:spPr bwMode="auto">
          <a:xfrm>
            <a:off x="457200" y="17373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Fake</a:t>
            </a:r>
            <a:endParaRPr lang="en-US" sz="1400"/>
          </a:p>
        </p:txBody>
      </p:sp>
      <p:sp>
        <p:nvSpPr>
          <p:cNvPr id="1581912641" name="Text 6"/>
          <p:cNvSpPr txBox="1"/>
          <p:nvPr/>
        </p:nvSpPr>
        <p:spPr bwMode="auto">
          <a:xfrm>
            <a:off x="457200" y="29718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Real</a:t>
            </a:r>
            <a:endParaRPr lang="en-US" sz="1400"/>
          </a:p>
        </p:txBody>
      </p:sp>
      <p:sp>
        <p:nvSpPr>
          <p:cNvPr id="1471088933" name="CM 261"/>
          <p:cNvSpPr/>
          <p:nvPr/>
        </p:nvSpPr>
        <p:spPr bwMode="auto">
          <a:xfrm>
            <a:off x="1600200" y="173736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1610726076" name="Text 8"/>
          <p:cNvSpPr txBox="1"/>
          <p:nvPr/>
        </p:nvSpPr>
        <p:spPr bwMode="auto">
          <a:xfrm>
            <a:off x="1600200" y="1737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chemeClr val="accent3"/>
                </a:solidFill>
                <a:latin typeface="Cambria"/>
                <a:ea typeface="Cambria"/>
                <a:cs typeface="Cambria"/>
              </a:rPr>
              <a:t>261</a:t>
            </a:r>
            <a:endParaRPr lang="en-US" sz="3600"/>
          </a:p>
        </p:txBody>
      </p:sp>
      <p:sp>
        <p:nvSpPr>
          <p:cNvPr id="2046780706" name="CM 0"/>
          <p:cNvSpPr/>
          <p:nvPr/>
        </p:nvSpPr>
        <p:spPr bwMode="auto">
          <a:xfrm>
            <a:off x="3063240" y="173736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875977476" name="Text 10"/>
          <p:cNvSpPr txBox="1"/>
          <p:nvPr/>
        </p:nvSpPr>
        <p:spPr bwMode="auto">
          <a:xfrm>
            <a:off x="3063240" y="1737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chemeClr val="accent6"/>
                </a:solidFill>
                <a:latin typeface="Cambria"/>
                <a:ea typeface="Cambria"/>
                <a:cs typeface="Cambria"/>
              </a:rPr>
              <a:t>0</a:t>
            </a:r>
            <a:endParaRPr lang="en-US" sz="3600"/>
          </a:p>
        </p:txBody>
      </p:sp>
      <p:sp>
        <p:nvSpPr>
          <p:cNvPr id="727927613" name="CM 4"/>
          <p:cNvSpPr/>
          <p:nvPr/>
        </p:nvSpPr>
        <p:spPr bwMode="auto">
          <a:xfrm>
            <a:off x="1600200" y="297180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246025928" name="Text 12"/>
          <p:cNvSpPr txBox="1"/>
          <p:nvPr/>
        </p:nvSpPr>
        <p:spPr bwMode="auto">
          <a:xfrm>
            <a:off x="1600200" y="297180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chemeClr val="accent2"/>
                </a:solidFill>
                <a:latin typeface="Cambria"/>
                <a:ea typeface="Cambria"/>
                <a:cs typeface="Cambria"/>
              </a:rPr>
              <a:t>4</a:t>
            </a:r>
            <a:endParaRPr lang="en-US" sz="3600"/>
          </a:p>
        </p:txBody>
      </p:sp>
      <p:sp>
        <p:nvSpPr>
          <p:cNvPr id="1062880684" name="CM 47"/>
          <p:cNvSpPr/>
          <p:nvPr/>
        </p:nvSpPr>
        <p:spPr bwMode="auto">
          <a:xfrm>
            <a:off x="3063240" y="297180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479047288" name="Text 14"/>
          <p:cNvSpPr txBox="1"/>
          <p:nvPr/>
        </p:nvSpPr>
        <p:spPr bwMode="auto">
          <a:xfrm>
            <a:off x="3063240" y="297180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chemeClr val="accent3"/>
                </a:solidFill>
                <a:latin typeface="Cambria"/>
                <a:ea typeface="Cambria"/>
                <a:cs typeface="Cambria"/>
              </a:rPr>
              <a:t>47</a:t>
            </a:r>
            <a:endParaRPr lang="en-US" sz="3600"/>
          </a:p>
        </p:txBody>
      </p:sp>
      <p:sp>
        <p:nvSpPr>
          <p:cNvPr id="1443430718" name="Text 15"/>
          <p:cNvSpPr txBox="1"/>
          <p:nvPr/>
        </p:nvSpPr>
        <p:spPr bwMode="auto">
          <a:xfrm>
            <a:off x="45720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/>
                </a:solidFill>
              </a:rPr>
              <a:t>312 video test: Real 51 · Fake 261</a:t>
            </a:r>
            <a:endParaRPr lang="en-US" sz="1200"/>
          </a:p>
        </p:txBody>
      </p:sp>
      <p:sp>
        <p:nvSpPr>
          <p:cNvPr id="9876769" name="Metric Accuracy"/>
          <p:cNvSpPr/>
          <p:nvPr/>
        </p:nvSpPr>
        <p:spPr bwMode="auto">
          <a:xfrm>
            <a:off x="4983480" y="118872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82520314" name="Text 17"/>
          <p:cNvSpPr txBox="1"/>
          <p:nvPr/>
        </p:nvSpPr>
        <p:spPr bwMode="auto">
          <a:xfrm>
            <a:off x="5120640" y="1280160"/>
            <a:ext cx="15087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98.72%</a:t>
            </a:r>
            <a:endParaRPr lang="en-US" sz="2800"/>
          </a:p>
        </p:txBody>
      </p:sp>
      <p:sp>
        <p:nvSpPr>
          <p:cNvPr id="786955581" name="Text 18"/>
          <p:cNvSpPr txBox="1"/>
          <p:nvPr/>
        </p:nvSpPr>
        <p:spPr bwMode="auto">
          <a:xfrm>
            <a:off x="5120640" y="1901952"/>
            <a:ext cx="1508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Accuracy</a:t>
            </a:r>
            <a:endParaRPr lang="en-US" sz="1400"/>
          </a:p>
        </p:txBody>
      </p:sp>
      <p:sp>
        <p:nvSpPr>
          <p:cNvPr id="48424685" name="Metric AUC"/>
          <p:cNvSpPr/>
          <p:nvPr/>
        </p:nvSpPr>
        <p:spPr bwMode="auto">
          <a:xfrm>
            <a:off x="6903720" y="118872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36331917" name="Text 20"/>
          <p:cNvSpPr txBox="1"/>
          <p:nvPr/>
        </p:nvSpPr>
        <p:spPr bwMode="auto">
          <a:xfrm>
            <a:off x="7040880" y="1280160"/>
            <a:ext cx="15087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0.998</a:t>
            </a:r>
            <a:endParaRPr lang="en-US" sz="2800"/>
          </a:p>
        </p:txBody>
      </p:sp>
      <p:sp>
        <p:nvSpPr>
          <p:cNvPr id="1200604737" name="Text 21"/>
          <p:cNvSpPr txBox="1"/>
          <p:nvPr/>
        </p:nvSpPr>
        <p:spPr bwMode="auto">
          <a:xfrm>
            <a:off x="7040880" y="1901952"/>
            <a:ext cx="1508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AUC</a:t>
            </a:r>
            <a:endParaRPr lang="en-US" sz="1400"/>
          </a:p>
        </p:txBody>
      </p:sp>
      <p:sp>
        <p:nvSpPr>
          <p:cNvPr id="1129512949" name="Metric Balanced acc"/>
          <p:cNvSpPr/>
          <p:nvPr/>
        </p:nvSpPr>
        <p:spPr bwMode="auto">
          <a:xfrm>
            <a:off x="4983480" y="242316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30653924" name="Text 23"/>
          <p:cNvSpPr txBox="1"/>
          <p:nvPr/>
        </p:nvSpPr>
        <p:spPr bwMode="auto">
          <a:xfrm>
            <a:off x="5120640" y="2514600"/>
            <a:ext cx="15087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96.08%</a:t>
            </a:r>
            <a:endParaRPr lang="en-US" sz="2800"/>
          </a:p>
        </p:txBody>
      </p:sp>
      <p:sp>
        <p:nvSpPr>
          <p:cNvPr id="552960097" name="Text 24"/>
          <p:cNvSpPr txBox="1"/>
          <p:nvPr/>
        </p:nvSpPr>
        <p:spPr bwMode="auto">
          <a:xfrm>
            <a:off x="5120640" y="3136392"/>
            <a:ext cx="1508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Balanced acc</a:t>
            </a:r>
            <a:endParaRPr lang="en-US" sz="1400"/>
          </a:p>
        </p:txBody>
      </p:sp>
      <p:sp>
        <p:nvSpPr>
          <p:cNvPr id="812549367" name="Metric macro-F1"/>
          <p:cNvSpPr/>
          <p:nvPr/>
        </p:nvSpPr>
        <p:spPr bwMode="auto">
          <a:xfrm>
            <a:off x="6903720" y="242316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68358702" name="Text 26"/>
          <p:cNvSpPr txBox="1"/>
          <p:nvPr/>
        </p:nvSpPr>
        <p:spPr bwMode="auto">
          <a:xfrm>
            <a:off x="7040880" y="2514600"/>
            <a:ext cx="15087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0.976</a:t>
            </a:r>
            <a:endParaRPr lang="en-US" sz="2800"/>
          </a:p>
        </p:txBody>
      </p:sp>
      <p:sp>
        <p:nvSpPr>
          <p:cNvPr id="137558838" name="Text 27"/>
          <p:cNvSpPr txBox="1"/>
          <p:nvPr/>
        </p:nvSpPr>
        <p:spPr bwMode="auto">
          <a:xfrm>
            <a:off x="7040880" y="3136392"/>
            <a:ext cx="1508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macro-F1</a:t>
            </a:r>
            <a:endParaRPr lang="en-US" sz="1400"/>
          </a:p>
        </p:txBody>
      </p:sp>
      <p:sp>
        <p:nvSpPr>
          <p:cNvPr id="869321464" name="Recall banner"/>
          <p:cNvSpPr/>
          <p:nvPr/>
        </p:nvSpPr>
        <p:spPr bwMode="auto">
          <a:xfrm>
            <a:off x="4983480" y="3703320"/>
            <a:ext cx="37033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741788261" name="Text 29"/>
          <p:cNvSpPr txBox="1"/>
          <p:nvPr/>
        </p:nvSpPr>
        <p:spPr bwMode="auto">
          <a:xfrm>
            <a:off x="5120640" y="3703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Recall Fake 100% · Recall Real 92.2%. Chỉ sai 4/51 video Real.</a:t>
            </a:r>
            <a:endParaRPr lang="en-US" sz="1400"/>
          </a:p>
        </p:txBody>
      </p:sp>
      <p:sp>
        <p:nvSpPr>
          <p:cNvPr id="185936483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006627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Đặc trưng sâu và demo</a:t>
            </a:r>
            <a:endParaRPr lang="en-US" sz="3000"/>
          </a:p>
        </p:txBody>
      </p:sp>
      <p:pic>
        <p:nvPicPr>
          <p:cNvPr id="1794951990" name="Image 0" descr="PCA và t-SNE của đặc trưng sâu: Real và Fake tách cụm rõ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143000"/>
            <a:ext cx="4937760" cy="2035454"/>
          </a:xfrm>
          <a:prstGeom prst="rect">
            <a:avLst/>
          </a:prstGeom>
        </p:spPr>
      </p:pic>
      <p:sp>
        <p:nvSpPr>
          <p:cNvPr id="1728144285" name="Text 1"/>
          <p:cNvSpPr txBox="1"/>
          <p:nvPr/>
        </p:nvSpPr>
        <p:spPr bwMode="auto">
          <a:xfrm>
            <a:off x="45720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/>
                </a:solidFill>
              </a:rPr>
              <a:t>PCA và t-SNE trên đặc trưng sâu của video (val + test)</a:t>
            </a:r>
            <a:endParaRPr lang="en-US" sz="1100"/>
          </a:p>
        </p:txBody>
      </p:sp>
      <p:sp>
        <p:nvSpPr>
          <p:cNvPr id="340970163" name="Text 2"/>
          <p:cNvSpPr txBox="1"/>
          <p:nvPr/>
        </p:nvSpPr>
        <p:spPr bwMode="auto">
          <a:xfrm>
            <a:off x="5669280" y="1188720"/>
            <a:ext cx="301751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1,280 chiều mỗi khung, gộp mean + std thành 2,560 chiều mỗi video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Real và Fake tách cụm rõ, khác hẳn đặc trưng thủ công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LogReg và SVM trên đặc trưng sâu đạt accuracy 98.72%, bằng CNN head</a:t>
            </a:r>
            <a:endParaRPr lang="en-US" sz="1400"/>
          </a:p>
        </p:txBody>
      </p:sp>
      <p:sp>
        <p:nvSpPr>
          <p:cNvPr id="1284506404" name="Demo banner"/>
          <p:cNvSpPr/>
          <p:nvPr/>
        </p:nvSpPr>
        <p:spPr bwMode="auto">
          <a:xfrm>
            <a:off x="457200" y="36576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92759960" name="Text 4"/>
          <p:cNvSpPr txBox="1"/>
          <p:nvPr/>
        </p:nvSpPr>
        <p:spPr bwMode="auto">
          <a:xfrm>
            <a:off x="640080" y="3657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7/8</a:t>
            </a:r>
            <a:endParaRPr lang="en-US" sz="3600"/>
          </a:p>
        </p:txBody>
      </p:sp>
      <p:sp>
        <p:nvSpPr>
          <p:cNvPr id="894386827" name="Text 5"/>
          <p:cNvSpPr txBox="1"/>
          <p:nvPr/>
        </p:nvSpPr>
        <p:spPr bwMode="auto">
          <a:xfrm>
            <a:off x="2103120" y="3657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video demo dự đoán đúng (88%). Lỗi duy nhất: 1 video Real bị gán Fake (P(Fake) = 0.551, chỉ có 10 khung mặt).</a:t>
            </a:r>
            <a:endParaRPr lang="en-US" sz="1400"/>
          </a:p>
        </p:txBody>
      </p:sp>
      <p:sp>
        <p:nvSpPr>
          <p:cNvPr id="50442150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102050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So sánh ba hướng tiếp cận</a:t>
            </a:r>
            <a:endParaRPr lang="en-US" sz="3000"/>
          </a:p>
        </p:txBody>
      </p:sp>
      <p:graphicFrame>
        <p:nvGraphicFramePr>
          <p:cNvPr id="127883806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188720"/>
          <a:ext cx="82296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91640"/>
                <a:gridCol w="2377440"/>
                <a:gridCol w="1188720"/>
                <a:gridCol w="1005840"/>
                <a:gridCol w="822960"/>
                <a:gridCol w="1143000"/>
              </a:tblGrid>
              <a:tr h="56692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Hướng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Mô hình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Tập test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macro-F1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</a:rPr>
                        <a:t>ML ảnh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SVM RBF, 2,311 đặc trưng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3,021 ảnh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0.816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0.899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0.82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56692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</a:rPr>
                        <a:t>ML video (Cách B)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Random Forest, 151 đặc trưng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295 video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0.881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0.857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0.755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</a:tcPr>
                </a:tc>
              </a:tr>
              <a:tr h="56692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</a:rPr>
                        <a:t>DL video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EfficientNet-B0 fine-tune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F2A37"/>
                          </a:solidFill>
                        </a:rPr>
                        <a:t>312 video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7C86"/>
                          </a:solidFill>
                        </a:rPr>
                        <a:t>0.987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7C86"/>
                          </a:solidFill>
                        </a:rPr>
                        <a:t>0.998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7C86"/>
                          </a:solidFill>
                        </a:rPr>
                        <a:t>0.976</a:t>
                      </a:r>
                      <a:endParaRPr lang="en-US" sz="1400"/>
                    </a:p>
                  </a:txBody>
                  <a:tcPr marL="91440" marR="91440" marT="45720" marB="45720" anchor="ctr">
                    <a:lnL w="9525" algn="ctr">
                      <a:solidFill>
                        <a:srgbClr val="CFE0E3"/>
                      </a:solidFill>
                    </a:lnL>
                    <a:lnR w="9525" algn="ctr">
                      <a:solidFill>
                        <a:srgbClr val="CFE0E3"/>
                      </a:solidFill>
                    </a:lnR>
                    <a:lnT w="9525" algn="ctr">
                      <a:solidFill>
                        <a:srgbClr val="CFE0E3"/>
                      </a:solidFill>
                    </a:lnT>
                    <a:lnB w="9525" algn="ctr">
                      <a:solidFill>
                        <a:srgbClr val="CFE0E3"/>
                      </a:solidFill>
                    </a:lnB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1710807535" name="DL takeaway"/>
          <p:cNvSpPr/>
          <p:nvPr/>
        </p:nvSpPr>
        <p:spPr bwMode="auto">
          <a:xfrm>
            <a:off x="457200" y="361188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28078397" name="Text 2"/>
          <p:cNvSpPr txBox="1"/>
          <p:nvPr/>
        </p:nvSpPr>
        <p:spPr bwMode="auto">
          <a:xfrm>
            <a:off x="64008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DL video cao hơn ML video khoảng 10 điểm accuracy, AUC lên 0.998.</a:t>
            </a:r>
            <a:endParaRPr lang="en-US" sz="1400"/>
          </a:p>
        </p:txBody>
      </p:sp>
      <p:sp>
        <p:nvSpPr>
          <p:cNvPr id="342652066" name="Caveat"/>
          <p:cNvSpPr/>
          <p:nvPr/>
        </p:nvSpPr>
        <p:spPr bwMode="auto">
          <a:xfrm>
            <a:off x="4663440" y="361188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25000"/>
            </a:schemeClr>
          </a:solidFill>
          <a:ln/>
        </p:spPr>
      </p:sp>
      <p:sp>
        <p:nvSpPr>
          <p:cNvPr id="1366695118" name="Text 4"/>
          <p:cNvSpPr txBox="1"/>
          <p:nvPr/>
        </p:nvSpPr>
        <p:spPr bwMode="auto">
          <a:xfrm>
            <a:off x="484632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Lưu ý: tập test và cách chia khác nhau, nên so sánh chỉ mang tính tham khảo.</a:t>
            </a:r>
            <a:endParaRPr lang="en-US" sz="1400"/>
          </a:p>
        </p:txBody>
      </p:sp>
      <p:sp>
        <p:nvSpPr>
          <p:cNvPr id="188293890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772772" name="Text 0"/>
          <p:cNvSpPr/>
          <p:nvPr>
            <p:ph type="title" idx="100" hasCustomPrompt="1"/>
          </p:nvPr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tx1"/>
                </a:solidFill>
              </a:rPr>
              <a:t>Kết luận và hướng phát triển</a:t>
            </a:r>
            <a:endParaRPr lang="en-US" sz="3000"/>
          </a:p>
        </p:txBody>
      </p:sp>
      <p:sp>
        <p:nvSpPr>
          <p:cNvPr id="1080108928" name="Conclusion card"/>
          <p:cNvSpPr/>
          <p:nvPr/>
        </p:nvSpPr>
        <p:spPr bwMode="auto"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04009040" name="Text 2"/>
          <p:cNvSpPr txBox="1"/>
          <p:nvPr/>
        </p:nvSpPr>
        <p:spPr bwMode="auto"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0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Kết luận</a:t>
            </a:r>
            <a:endParaRPr lang="en-US" sz="2000"/>
          </a:p>
        </p:txBody>
      </p:sp>
      <p:sp>
        <p:nvSpPr>
          <p:cNvPr id="1943262337" name="Number 1"/>
          <p:cNvSpPr txBox="1"/>
          <p:nvPr/>
        </p:nvSpPr>
        <p:spPr bwMode="auto">
          <a:xfrm>
            <a:off x="685800" y="20299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1</a:t>
            </a:r>
            <a:endParaRPr lang="en-US" sz="1300"/>
          </a:p>
        </p:txBody>
      </p:sp>
      <p:sp>
        <p:nvSpPr>
          <p:cNvPr id="1057127714" name="Text 4"/>
          <p:cNvSpPr txBox="1"/>
          <p:nvPr/>
        </p:nvSpPr>
        <p:spPr bwMode="auto"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Đặc trưng thủ công + SVM RBF đạt khoảng 82% trên ảnh, nhưng không khái quát sang video (Cách A: AUC 0.464).</a:t>
            </a:r>
            <a:endParaRPr lang="en-US" sz="1300"/>
          </a:p>
        </p:txBody>
      </p:sp>
      <p:sp>
        <p:nvSpPr>
          <p:cNvPr id="1479973984" name="Number 2"/>
          <p:cNvSpPr txBox="1"/>
          <p:nvPr/>
        </p:nvSpPr>
        <p:spPr bwMode="auto">
          <a:xfrm>
            <a:off x="685800" y="2944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2</a:t>
            </a:r>
            <a:endParaRPr lang="en-US" sz="1300"/>
          </a:p>
        </p:txBody>
      </p:sp>
      <p:sp>
        <p:nvSpPr>
          <p:cNvPr id="1285083778" name="Text 6"/>
          <p:cNvSpPr txBox="1"/>
          <p:nvPr/>
        </p:nvSpPr>
        <p:spPr bwMode="auto">
          <a:xfrm>
            <a:off x="123444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Train ở mức video giúp ML cải thiện: Random Forest đạt macro-F1 0.755.</a:t>
            </a:r>
            <a:endParaRPr lang="en-US" sz="1300"/>
          </a:p>
        </p:txBody>
      </p:sp>
      <p:sp>
        <p:nvSpPr>
          <p:cNvPr id="1319583159" name="Number 3"/>
          <p:cNvSpPr txBox="1"/>
          <p:nvPr/>
        </p:nvSpPr>
        <p:spPr bwMode="auto">
          <a:xfrm>
            <a:off x="685800" y="38587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3</a:t>
            </a:r>
            <a:endParaRPr lang="en-US" sz="1300"/>
          </a:p>
        </p:txBody>
      </p:sp>
      <p:sp>
        <p:nvSpPr>
          <p:cNvPr id="547778453" name="Text 8"/>
          <p:cNvSpPr txBox="1"/>
          <p:nvPr/>
        </p:nvSpPr>
        <p:spPr bwMode="auto">
          <a:xfrm>
            <a:off x="1234440" y="3611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Fine-tune EfficientNet-B0 đạt accuracy 98.72%, AUC 0.998 trên 312 video test.</a:t>
            </a:r>
            <a:endParaRPr lang="en-US" sz="1300"/>
          </a:p>
        </p:txBody>
      </p:sp>
      <p:sp>
        <p:nvSpPr>
          <p:cNvPr id="1447288071" name="Future card"/>
          <p:cNvSpPr/>
          <p:nvPr/>
        </p:nvSpPr>
        <p:spPr bwMode="auto"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438671" name="Text 10"/>
          <p:cNvSpPr txBox="1"/>
          <p:nvPr/>
        </p:nvSpPr>
        <p:spPr bwMode="auto">
          <a:xfrm>
            <a:off x="4892039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0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Hướng phát triển</a:t>
            </a:r>
            <a:endParaRPr lang="en-US" sz="2000"/>
          </a:p>
        </p:txBody>
      </p:sp>
      <p:sp>
        <p:nvSpPr>
          <p:cNvPr id="1152796003" name="Icon circle search"/>
          <p:cNvSpPr/>
          <p:nvPr/>
        </p:nvSpPr>
        <p:spPr bwMode="auto">
          <a:xfrm>
            <a:off x="4892039" y="1856232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41251983" name="Image 0" descr="search ic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94910" y="1959102"/>
            <a:ext cx="205740" cy="205740"/>
          </a:xfrm>
          <a:prstGeom prst="rect">
            <a:avLst/>
          </a:prstGeom>
        </p:spPr>
      </p:pic>
      <p:sp>
        <p:nvSpPr>
          <p:cNvPr id="532614469" name="Text 12"/>
          <p:cNvSpPr txBox="1"/>
          <p:nvPr/>
        </p:nvSpPr>
        <p:spPr bwMode="auto">
          <a:xfrm>
            <a:off x="5486400" y="1783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Thay Haar bằng MTCNN hoặc RetinaFace để cắt mặt tốt hơn.</a:t>
            </a:r>
            <a:endParaRPr lang="en-US" sz="1300"/>
          </a:p>
        </p:txBody>
      </p:sp>
      <p:sp>
        <p:nvSpPr>
          <p:cNvPr id="1670583374" name="Icon circle layers"/>
          <p:cNvSpPr/>
          <p:nvPr/>
        </p:nvSpPr>
        <p:spPr bwMode="auto">
          <a:xfrm>
            <a:off x="4892039" y="2542032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2642776" name="Image 1" descr="layers icon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94910" y="2644902"/>
            <a:ext cx="205740" cy="205740"/>
          </a:xfrm>
          <a:prstGeom prst="rect">
            <a:avLst/>
          </a:prstGeom>
        </p:spPr>
      </p:pic>
      <p:sp>
        <p:nvSpPr>
          <p:cNvPr id="1405006341" name="Text 14"/>
          <p:cNvSpPr txBox="1"/>
          <p:nvPr/>
        </p:nvSpPr>
        <p:spPr bwMode="auto">
          <a:xfrm>
            <a:off x="5486400" y="2468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Tăng số khung, số epoch hoặc thử ResNet50.</a:t>
            </a:r>
            <a:endParaRPr lang="en-US" sz="1300"/>
          </a:p>
        </p:txBody>
      </p:sp>
      <p:sp>
        <p:nvSpPr>
          <p:cNvPr id="1597418298" name="Icon circle db"/>
          <p:cNvSpPr/>
          <p:nvPr/>
        </p:nvSpPr>
        <p:spPr bwMode="auto">
          <a:xfrm>
            <a:off x="4892039" y="3227832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36150927" name="Image 2" descr="db ico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994910" y="3330702"/>
            <a:ext cx="205740" cy="205740"/>
          </a:xfrm>
          <a:prstGeom prst="rect">
            <a:avLst/>
          </a:prstGeom>
        </p:spPr>
      </p:pic>
      <p:sp>
        <p:nvSpPr>
          <p:cNvPr id="160832964" name="Text 16"/>
          <p:cNvSpPr txBox="1"/>
          <p:nvPr/>
        </p:nvSpPr>
        <p:spPr bwMode="auto">
          <a:xfrm>
            <a:off x="5486400" y="3154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Thêm các part DFDC khác để tăng dữ liệu.</a:t>
            </a:r>
            <a:endParaRPr lang="en-US" sz="1300"/>
          </a:p>
        </p:txBody>
      </p:sp>
      <p:sp>
        <p:nvSpPr>
          <p:cNvPr id="678371664" name="Icon circle flask"/>
          <p:cNvSpPr/>
          <p:nvPr/>
        </p:nvSpPr>
        <p:spPr bwMode="auto">
          <a:xfrm>
            <a:off x="4892039" y="3913632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66496453" name="Image 3" descr="flask icon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994910" y="4016502"/>
            <a:ext cx="205740" cy="205740"/>
          </a:xfrm>
          <a:prstGeom prst="rect">
            <a:avLst/>
          </a:prstGeom>
        </p:spPr>
      </p:pic>
      <p:sp>
        <p:nvSpPr>
          <p:cNvPr id="980769767" name="Text 18"/>
          <p:cNvSpPr txBox="1"/>
          <p:nvPr/>
        </p:nvSpPr>
        <p:spPr bwMode="auto">
          <a:xfrm>
            <a:off x="548640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Chạy lại với nhiều SEED vì tập test chỉ vài trăm video.</a:t>
            </a:r>
            <a:endParaRPr lang="en-US" sz="1300"/>
          </a:p>
        </p:txBody>
      </p:sp>
      <p:sp>
        <p:nvSpPr>
          <p:cNvPr id="20304129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eepfake Light">
  <a:themeElements>
    <a:clrScheme name="Deepfake Light">
      <a:dk1>
        <a:srgbClr val="1F2A37"/>
      </a:dk1>
      <a:lt1>
        <a:srgbClr val="FFFFFF"/>
      </a:lt1>
      <a:dk2>
        <a:srgbClr val="4A5B68"/>
      </a:dk2>
      <a:lt2>
        <a:srgbClr val="EAF4F5"/>
      </a:lt2>
      <a:accent1>
        <a:srgbClr val="0E7C86"/>
      </a:accent1>
      <a:accent2>
        <a:srgbClr val="E4572E"/>
      </a:accent2>
      <a:accent3>
        <a:srgbClr val="2E9E6B"/>
      </a:accent3>
      <a:accent4>
        <a:srgbClr val="F2A541"/>
      </a:accent4>
      <a:accent5>
        <a:srgbClr val="5B7DB1"/>
      </a:accent5>
      <a:accent6>
        <a:srgbClr val="6B7A86"/>
      </a:accent6>
      <a:hlink>
        <a:srgbClr val="0E7C86"/>
      </a:hlink>
      <a:folHlink>
        <a:srgbClr val="6B7A86"/>
      </a:folHlink>
    </a:clrScheme>
    <a:fontScheme name="Deepfake Light">
      <a:majorFont>
        <a:latin typeface="Cambria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hiện Deepfake trên Ảnh và Video</dc:title>
  <dc:subject>PptxGenJS Presentation</dc:subject>
  <dc:creator>PptxGenJS</dc:creator>
  <cp:lastModifiedBy/>
  <cp:revision>2</cp:revision>
  <dcterms:created xsi:type="dcterms:W3CDTF">2026-10-28T08:08:10Z</dcterms:created>
  <dcterms:modified xsi:type="dcterms:W3CDTF">2026-10-28T09:39:55Z</dcterms:modified>
</cp:coreProperties>
</file>